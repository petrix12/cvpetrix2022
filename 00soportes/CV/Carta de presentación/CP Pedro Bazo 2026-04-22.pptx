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6858000" cy="9144000" type="screen4x3"/>
  <p:notesSz cx="7315200" cy="96012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5" d="100"/>
          <a:sy n="115" d="100"/>
        </p:scale>
        <p:origin x="3304" y="76"/>
      </p:cViewPr>
      <p:guideLst>
        <p:guide orient="horz" pos="2880"/>
        <p:guide pos="2160"/>
      </p:guideLst>
    </p:cSldViewPr>
  </p:slideViewPr>
  <p:notesTextViewPr>
    <p:cViewPr>
      <p:scale>
        <a:sx n="100" d="100"/>
        <a:sy n="100" d="100"/>
      </p:scale>
      <p:origin x="0" y="0"/>
    </p:cViewPr>
  </p:notesTextViewPr>
  <p:notesViewPr>
    <p:cSldViewPr>
      <p:cViewPr varScale="1">
        <p:scale>
          <a:sx n="80" d="100"/>
          <a:sy n="80" d="100"/>
        </p:scale>
        <p:origin x="-2022" y="-96"/>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s-VE"/>
          </a:p>
        </p:txBody>
      </p:sp>
      <p:sp>
        <p:nvSpPr>
          <p:cNvPr id="3" name="2 Marcador de fecha"/>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1E5B1206-967F-4C5D-BDDE-8FB8311D7112}" type="datetimeFigureOut">
              <a:rPr lang="es-VE" smtClean="0"/>
              <a:t>22/4/2026</a:t>
            </a:fld>
            <a:endParaRPr lang="es-VE"/>
          </a:p>
        </p:txBody>
      </p:sp>
      <p:sp>
        <p:nvSpPr>
          <p:cNvPr id="4" name="3 Marcador de imagen de diapositiva"/>
          <p:cNvSpPr>
            <a:spLocks noGrp="1" noRot="1" noChangeAspect="1"/>
          </p:cNvSpPr>
          <p:nvPr>
            <p:ph type="sldImg" idx="2"/>
          </p:nvPr>
        </p:nvSpPr>
        <p:spPr>
          <a:xfrm>
            <a:off x="2306638" y="720725"/>
            <a:ext cx="2701925" cy="3600450"/>
          </a:xfrm>
          <a:prstGeom prst="rect">
            <a:avLst/>
          </a:prstGeom>
          <a:noFill/>
          <a:ln w="12700">
            <a:solidFill>
              <a:prstClr val="black"/>
            </a:solidFill>
          </a:ln>
        </p:spPr>
        <p:txBody>
          <a:bodyPr vert="horz" lIns="96661" tIns="48331" rIns="96661" bIns="48331" rtlCol="0" anchor="ctr"/>
          <a:lstStyle/>
          <a:p>
            <a:endParaRPr lang="es-VE"/>
          </a:p>
        </p:txBody>
      </p:sp>
      <p:sp>
        <p:nvSpPr>
          <p:cNvPr id="5" name="4 Marcador de notas"/>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VE"/>
          </a:p>
        </p:txBody>
      </p:sp>
      <p:sp>
        <p:nvSpPr>
          <p:cNvPr id="6" name="5 Marcador de pie de página"/>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s-VE"/>
          </a:p>
        </p:txBody>
      </p:sp>
      <p:sp>
        <p:nvSpPr>
          <p:cNvPr id="7" name="6 Marcador de número de diapositiva"/>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58C720D2-8991-451A-890C-64C72B9B023E}" type="slidenum">
              <a:rPr lang="es-VE" smtClean="0"/>
              <a:t>‹Nº›</a:t>
            </a:fld>
            <a:endParaRPr lang="es-VE"/>
          </a:p>
        </p:txBody>
      </p:sp>
    </p:spTree>
    <p:extLst>
      <p:ext uri="{BB962C8B-B14F-4D97-AF65-F5344CB8AC3E}">
        <p14:creationId xmlns:p14="http://schemas.microsoft.com/office/powerpoint/2010/main" val="3902444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514350" y="2840568"/>
            <a:ext cx="5829300" cy="1960033"/>
          </a:xfrm>
        </p:spPr>
        <p:txBody>
          <a:bodyPr/>
          <a:lstStyle/>
          <a:p>
            <a:r>
              <a:rPr lang="es-ES"/>
              <a:t>Haga clic para modificar el estilo de título del patrón</a:t>
            </a:r>
          </a:p>
        </p:txBody>
      </p:sp>
      <p:sp>
        <p:nvSpPr>
          <p:cNvPr id="3" name="2 Subtítulo"/>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541735" y="5875867"/>
            <a:ext cx="5829300" cy="1816100"/>
          </a:xfrm>
        </p:spPr>
        <p:txBody>
          <a:bodyPr anchor="t"/>
          <a:lstStyle>
            <a:lvl1pPr algn="l">
              <a:defRPr sz="4000" b="1" cap="all"/>
            </a:lvl1pPr>
          </a:lstStyle>
          <a:p>
            <a:r>
              <a:rPr lang="es-ES"/>
              <a:t>Haga clic para modificar el estilo de título del patrón</a:t>
            </a:r>
          </a:p>
        </p:txBody>
      </p:sp>
      <p:sp>
        <p:nvSpPr>
          <p:cNvPr id="3" name="2 Marcador de texto"/>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342900" y="364067"/>
            <a:ext cx="2256235" cy="154940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344216" y="6400800"/>
            <a:ext cx="4114800" cy="755651"/>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4972050" y="366185"/>
            <a:ext cx="1543050" cy="7802033"/>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342900" y="366185"/>
            <a:ext cx="4514850" cy="7802033"/>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7A847CFC-816F-41D0-AAC0-9BF4FEBC753E}" type="datetimeFigureOut">
              <a:rPr lang="es-ES" smtClean="0"/>
              <a:t>22/04/2026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2 Marcador de texto"/>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22/04/2026</a:t>
            </a:fld>
            <a:endParaRPr lang="es-ES"/>
          </a:p>
        </p:txBody>
      </p:sp>
      <p:sp>
        <p:nvSpPr>
          <p:cNvPr id="5" name="4 Marcador de pie de página"/>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a:p>
        </p:txBody>
      </p:sp>
      <p:pic>
        <p:nvPicPr>
          <p:cNvPr id="7" name="Picture 2" descr="d:\Documents and Settings\bazop\Escritorio\CV\CV\Photoshop CS2\Fondo 3.png"/>
          <p:cNvPicPr>
            <a:picLocks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6858000" cy="9144000"/>
          </a:xfrm>
          <a:prstGeom prst="rect">
            <a:avLst/>
          </a:prstGeom>
          <a:noFill/>
          <a:extLst>
            <a:ext uri="{909E8E84-426E-40DD-AFC4-6F175D3DCCD1}">
              <a14:hiddenFill xmlns:a14="http://schemas.microsoft.com/office/drawing/2010/main">
                <a:solidFill>
                  <a:srgbClr val="FFFFFF"/>
                </a:solidFill>
              </a14:hiddenFill>
            </a:ext>
          </a:extLst>
        </p:spPr>
      </p:pic>
      <p:sp>
        <p:nvSpPr>
          <p:cNvPr id="8" name="7 Rectángulo"/>
          <p:cNvSpPr>
            <a:spLocks/>
          </p:cNvSpPr>
          <p:nvPr userDrawn="1"/>
        </p:nvSpPr>
        <p:spPr>
          <a:xfrm>
            <a:off x="0" y="0"/>
            <a:ext cx="2077988" cy="9144000"/>
          </a:xfrm>
          <a:prstGeom prst="rect">
            <a:avLst/>
          </a:prstGeom>
          <a:gradFill flip="none" rotWithShape="1">
            <a:gsLst>
              <a:gs pos="0">
                <a:schemeClr val="tx2"/>
              </a:gs>
              <a:gs pos="50000">
                <a:schemeClr val="tx2">
                  <a:lumMod val="40000"/>
                  <a:lumOff val="60000"/>
                </a:schemeClr>
              </a:gs>
              <a:gs pos="100000">
                <a:schemeClr val="accent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p>
        </p:txBody>
      </p:sp>
      <p:sp>
        <p:nvSpPr>
          <p:cNvPr id="9" name="8 Rectángulo"/>
          <p:cNvSpPr>
            <a:spLocks/>
          </p:cNvSpPr>
          <p:nvPr userDrawn="1"/>
        </p:nvSpPr>
        <p:spPr>
          <a:xfrm>
            <a:off x="2420888" y="107504"/>
            <a:ext cx="4437112" cy="504056"/>
          </a:xfrm>
          <a:prstGeom prst="rect">
            <a:avLst/>
          </a:prstGeom>
          <a:gradFill flip="none" rotWithShape="1">
            <a:gsLst>
              <a:gs pos="0">
                <a:schemeClr val="tx2"/>
              </a:gs>
              <a:gs pos="50000">
                <a:schemeClr val="tx2">
                  <a:lumMod val="40000"/>
                  <a:lumOff val="60000"/>
                </a:schemeClr>
              </a:gs>
              <a:gs pos="100000">
                <a:schemeClr val="accent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dirty="0">
              <a:latin typeface="Georgia" panose="02040502050405020303"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7.png"/><Relationship Id="rId18" Type="http://schemas.openxmlformats.org/officeDocument/2006/relationships/image" Target="../media/image11.png"/><Relationship Id="rId26" Type="http://schemas.openxmlformats.org/officeDocument/2006/relationships/image" Target="../media/image17.png"/><Relationship Id="rId3" Type="http://schemas.openxmlformats.org/officeDocument/2006/relationships/image" Target="../media/image2.jpeg"/><Relationship Id="rId21" Type="http://schemas.openxmlformats.org/officeDocument/2006/relationships/hyperlink" Target="https://petrix12.github.io/cvpetrix2022/cvpedrobazo.pdf" TargetMode="External"/><Relationship Id="rId7" Type="http://schemas.openxmlformats.org/officeDocument/2006/relationships/image" Target="../media/image5.gif"/><Relationship Id="rId12" Type="http://schemas.openxmlformats.org/officeDocument/2006/relationships/hyperlink" Target="https://www.instagram.com/bazopedro/" TargetMode="External"/><Relationship Id="rId17" Type="http://schemas.openxmlformats.org/officeDocument/2006/relationships/image" Target="../media/image10.png"/><Relationship Id="rId25" Type="http://schemas.openxmlformats.org/officeDocument/2006/relationships/image" Target="../media/image16.png"/><Relationship Id="rId2" Type="http://schemas.openxmlformats.org/officeDocument/2006/relationships/hyperlink" Target="https://petrix12.github.io/cvpetrix2022" TargetMode="External"/><Relationship Id="rId16" Type="http://schemas.openxmlformats.org/officeDocument/2006/relationships/image" Target="../media/image9.png"/><Relationship Id="rId20" Type="http://schemas.openxmlformats.org/officeDocument/2006/relationships/hyperlink" Target="https://www.youtube.com/watch?v=0aNLLpvYVio" TargetMode="Externa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www.linkedin.com/in/pedro-bazo/" TargetMode="External"/><Relationship Id="rId24" Type="http://schemas.openxmlformats.org/officeDocument/2006/relationships/image" Target="../media/image15.png"/><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4.png"/><Relationship Id="rId10" Type="http://schemas.openxmlformats.org/officeDocument/2006/relationships/hyperlink" Target="https://www.facebook.com/solplusplus" TargetMode="External"/><Relationship Id="rId19" Type="http://schemas.openxmlformats.org/officeDocument/2006/relationships/image" Target="../media/image12.png"/><Relationship Id="rId4" Type="http://schemas.openxmlformats.org/officeDocument/2006/relationships/hyperlink" Target="https://cvpetrix.herokuapp.com/portafolio" TargetMode="External"/><Relationship Id="rId9" Type="http://schemas.openxmlformats.org/officeDocument/2006/relationships/hyperlink" Target="https://twitter.com/petrix12" TargetMode="External"/><Relationship Id="rId14" Type="http://schemas.openxmlformats.org/officeDocument/2006/relationships/hyperlink" Target="https://github.com/petrix12" TargetMode="External"/><Relationship Id="rId22" Type="http://schemas.openxmlformats.org/officeDocument/2006/relationships/image" Target="../media/image13.png"/><Relationship Id="rId27"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1 CuadroTexto">
            <a:extLst>
              <a:ext uri="{FF2B5EF4-FFF2-40B4-BE49-F238E27FC236}">
                <a16:creationId xmlns:a16="http://schemas.microsoft.com/office/drawing/2014/main" id="{6EC4736A-BE96-E838-5ED0-E18D480653CB}"/>
              </a:ext>
            </a:extLst>
          </p:cNvPr>
          <p:cNvSpPr txBox="1"/>
          <p:nvPr/>
        </p:nvSpPr>
        <p:spPr>
          <a:xfrm>
            <a:off x="2420888" y="154112"/>
            <a:ext cx="4413572" cy="400110"/>
          </a:xfrm>
          <a:prstGeom prst="rect">
            <a:avLst/>
          </a:prstGeom>
          <a:noFill/>
        </p:spPr>
        <p:txBody>
          <a:bodyPr wrap="square" rtlCol="0">
            <a:spAutoFit/>
          </a:bodyPr>
          <a:lstStyle/>
          <a:p>
            <a:pPr algn="ctr"/>
            <a:r>
              <a:rPr lang="es-VE" sz="2000" b="1" dirty="0">
                <a:solidFill>
                  <a:schemeClr val="bg1"/>
                </a:solidFill>
                <a:effectLst>
                  <a:outerShdw blurRad="38100" dist="38100" dir="2700000" algn="tl">
                    <a:srgbClr val="000000">
                      <a:alpha val="43137"/>
                    </a:srgbClr>
                  </a:outerShdw>
                </a:effectLst>
                <a:latin typeface="Georgia" panose="02040502050405020303" pitchFamily="18" charset="0"/>
              </a:rPr>
              <a:t>Ing. Pedro Jesús Bazó Canelón</a:t>
            </a:r>
          </a:p>
        </p:txBody>
      </p:sp>
      <p:pic>
        <p:nvPicPr>
          <p:cNvPr id="31" name="Picture 2" descr="F:\Petrix\Proyectos Propios\2019 Soluciones Office\Imagenes\Autor\Pedro Bazó 03.jpg">
            <a:hlinkClick r:id="rId2"/>
            <a:extLst>
              <a:ext uri="{FF2B5EF4-FFF2-40B4-BE49-F238E27FC236}">
                <a16:creationId xmlns:a16="http://schemas.microsoft.com/office/drawing/2014/main" id="{CC724C5F-3ECA-26BC-2069-B56207807F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639" y="292270"/>
            <a:ext cx="1728192" cy="1728192"/>
          </a:xfrm>
          <a:prstGeom prst="flowChartConnector">
            <a:avLst/>
          </a:prstGeom>
          <a:noFill/>
          <a:effectLst>
            <a:glow rad="63500">
              <a:schemeClr val="accent1">
                <a:satMod val="175000"/>
                <a:alpha val="40000"/>
              </a:schemeClr>
            </a:glow>
          </a:effectLst>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
        <p:nvSpPr>
          <p:cNvPr id="34" name="5 Rectángulo">
            <a:hlinkClick r:id="rId4"/>
            <a:extLst>
              <a:ext uri="{FF2B5EF4-FFF2-40B4-BE49-F238E27FC236}">
                <a16:creationId xmlns:a16="http://schemas.microsoft.com/office/drawing/2014/main" id="{B9D96849-1B0E-B01B-0568-F391C9D1C2AE}"/>
              </a:ext>
            </a:extLst>
          </p:cNvPr>
          <p:cNvSpPr/>
          <p:nvPr/>
        </p:nvSpPr>
        <p:spPr>
          <a:xfrm>
            <a:off x="2193599" y="819504"/>
            <a:ext cx="4665659" cy="523220"/>
          </a:xfrm>
          <a:prstGeom prst="rect">
            <a:avLst/>
          </a:prstGeom>
          <a:noFill/>
        </p:spPr>
        <p:txBody>
          <a:bodyPr wrap="square" lIns="91440" tIns="45720" rIns="91440" bIns="45720">
            <a:spAutoFit/>
            <a:scene3d>
              <a:camera prst="orthographicFront"/>
              <a:lightRig rig="soft" dir="t">
                <a:rot lat="0" lon="0" rev="10800000"/>
              </a:lightRig>
            </a:scene3d>
            <a:sp3d>
              <a:bevelT w="27940" h="12700"/>
              <a:contourClr>
                <a:srgbClr val="DDDDDD"/>
              </a:contourClr>
            </a:sp3d>
          </a:bodyPr>
          <a:lstStyle/>
          <a:p>
            <a:pPr algn="ctr"/>
            <a:r>
              <a:rPr lang="en-US" sz="1400" b="1" cap="none" spc="150" dirty="0">
                <a:ln w="11430"/>
                <a:solidFill>
                  <a:schemeClr val="bg1">
                    <a:lumMod val="50000"/>
                  </a:schemeClr>
                </a:solidFill>
                <a:effectLst>
                  <a:outerShdw blurRad="38100" dist="38100" dir="2700000" algn="tl">
                    <a:srgbClr val="000000">
                      <a:alpha val="43137"/>
                    </a:srgbClr>
                  </a:outerShdw>
                </a:effectLst>
                <a:latin typeface="Georgia" panose="02040502050405020303" pitchFamily="18" charset="0"/>
              </a:rPr>
              <a:t>Senior Software Engineer | Expert in Laravel, Vue.js &amp; Data Architecture</a:t>
            </a:r>
            <a:endParaRPr lang="es-ES" sz="1400" b="1" cap="none" spc="150" dirty="0">
              <a:ln w="11430"/>
              <a:solidFill>
                <a:schemeClr val="bg1">
                  <a:lumMod val="50000"/>
                </a:schemeClr>
              </a:solidFill>
              <a:effectLst>
                <a:outerShdw blurRad="38100" dist="38100" dir="2700000" algn="tl">
                  <a:srgbClr val="000000">
                    <a:alpha val="43137"/>
                  </a:srgbClr>
                </a:outerShdw>
              </a:effectLst>
              <a:latin typeface="Georgia" panose="02040502050405020303" pitchFamily="18" charset="0"/>
            </a:endParaRPr>
          </a:p>
        </p:txBody>
      </p:sp>
      <p:cxnSp>
        <p:nvCxnSpPr>
          <p:cNvPr id="38" name="13 Conector recto">
            <a:extLst>
              <a:ext uri="{FF2B5EF4-FFF2-40B4-BE49-F238E27FC236}">
                <a16:creationId xmlns:a16="http://schemas.microsoft.com/office/drawing/2014/main" id="{AA1A40F4-94FA-46C4-F827-F6B1F24BDEB3}"/>
              </a:ext>
            </a:extLst>
          </p:cNvPr>
          <p:cNvCxnSpPr/>
          <p:nvPr/>
        </p:nvCxnSpPr>
        <p:spPr>
          <a:xfrm>
            <a:off x="188849" y="4312760"/>
            <a:ext cx="1712828" cy="0"/>
          </a:xfrm>
          <a:prstGeom prst="line">
            <a:avLst/>
          </a:prstGeom>
          <a:ln w="25400"/>
          <a:scene3d>
            <a:camera prst="orthographicFront"/>
            <a:lightRig rig="threePt" dir="t"/>
          </a:scene3d>
          <a:sp3d extrusionH="44450" contourW="6350">
            <a:bevelT h="114300"/>
          </a:sp3d>
        </p:spPr>
        <p:style>
          <a:lnRef idx="1">
            <a:schemeClr val="accent1"/>
          </a:lnRef>
          <a:fillRef idx="0">
            <a:schemeClr val="accent1"/>
          </a:fillRef>
          <a:effectRef idx="0">
            <a:schemeClr val="accent1"/>
          </a:effectRef>
          <a:fontRef idx="minor">
            <a:schemeClr val="tx1"/>
          </a:fontRef>
        </p:style>
      </p:cxnSp>
      <p:cxnSp>
        <p:nvCxnSpPr>
          <p:cNvPr id="40" name="19 Conector recto">
            <a:extLst>
              <a:ext uri="{FF2B5EF4-FFF2-40B4-BE49-F238E27FC236}">
                <a16:creationId xmlns:a16="http://schemas.microsoft.com/office/drawing/2014/main" id="{DE42D9DA-F45B-2820-2CE7-FB5FB0DD3E26}"/>
              </a:ext>
            </a:extLst>
          </p:cNvPr>
          <p:cNvCxnSpPr/>
          <p:nvPr/>
        </p:nvCxnSpPr>
        <p:spPr>
          <a:xfrm>
            <a:off x="188639" y="7092280"/>
            <a:ext cx="1712828" cy="0"/>
          </a:xfrm>
          <a:prstGeom prst="line">
            <a:avLst/>
          </a:prstGeom>
          <a:ln w="25400"/>
          <a:scene3d>
            <a:camera prst="orthographicFront"/>
            <a:lightRig rig="threePt" dir="t"/>
          </a:scene3d>
          <a:sp3d extrusionH="44450" contourW="6350">
            <a:bevelT h="114300"/>
          </a:sp3d>
        </p:spPr>
        <p:style>
          <a:lnRef idx="1">
            <a:schemeClr val="accent1"/>
          </a:lnRef>
          <a:fillRef idx="0">
            <a:schemeClr val="accent1"/>
          </a:fillRef>
          <a:effectRef idx="0">
            <a:schemeClr val="accent1"/>
          </a:effectRef>
          <a:fontRef idx="minor">
            <a:schemeClr val="tx1"/>
          </a:fontRef>
        </p:style>
      </p:cxnSp>
      <p:pic>
        <p:nvPicPr>
          <p:cNvPr id="41" name="Picture 2" descr="d:\Documents and Settings\bazop\Escritorio\CV\Iconos\icono-twitter.png">
            <a:extLst>
              <a:ext uri="{FF2B5EF4-FFF2-40B4-BE49-F238E27FC236}">
                <a16:creationId xmlns:a16="http://schemas.microsoft.com/office/drawing/2014/main" id="{F3D6C2DB-7AF2-21DC-A734-6C192893A659}"/>
              </a:ext>
            </a:extLst>
          </p:cNvPr>
          <p:cNvPicPr preferRelativeResize="0">
            <a:picLocks noChangeArrowheads="1"/>
          </p:cNvPicPr>
          <p:nvPr/>
        </p:nvPicPr>
        <p:blipFill rotWithShape="1">
          <a:blip r:embed="rId5" cstate="print">
            <a:extLst>
              <a:ext uri="{28A0092B-C50C-407E-A947-70E740481C1C}">
                <a14:useLocalDpi xmlns:a14="http://schemas.microsoft.com/office/drawing/2010/main" val="0"/>
              </a:ext>
            </a:extLst>
          </a:blip>
          <a:srcRect l="2631" t="1503" r="2292" b="3795"/>
          <a:stretch/>
        </p:blipFill>
        <p:spPr bwMode="auto">
          <a:xfrm>
            <a:off x="404664" y="5133164"/>
            <a:ext cx="288000" cy="288000"/>
          </a:xfrm>
          <a:prstGeom prst="rect">
            <a:avLst/>
          </a:prstGeom>
          <a:noFill/>
          <a:scene3d>
            <a:camera prst="orthographicFront"/>
            <a:lightRig rig="threePt" dir="t"/>
          </a:scene3d>
          <a:sp3d>
            <a:bevelT w="127000" h="50800" prst="softRound"/>
          </a:sp3d>
          <a:extLst>
            <a:ext uri="{909E8E84-426E-40DD-AFC4-6F175D3DCCD1}">
              <a14:hiddenFill xmlns:a14="http://schemas.microsoft.com/office/drawing/2010/main">
                <a:solidFill>
                  <a:srgbClr val="FFFFFF"/>
                </a:solidFill>
              </a14:hiddenFill>
            </a:ext>
          </a:extLst>
        </p:spPr>
      </p:pic>
      <p:pic>
        <p:nvPicPr>
          <p:cNvPr id="43" name="Picture 4" descr="d:\Documents and Settings\bazop\Escritorio\CV\Iconos\FACEBOOK-ICON.png">
            <a:extLst>
              <a:ext uri="{FF2B5EF4-FFF2-40B4-BE49-F238E27FC236}">
                <a16:creationId xmlns:a16="http://schemas.microsoft.com/office/drawing/2014/main" id="{FD453654-BB61-2BA9-0D5D-8FE52A5D4B6E}"/>
              </a:ext>
            </a:extLst>
          </p:cNvPr>
          <p:cNvPicPr preferRelativeResize="0">
            <a:picLocks noChangeArrowheads="1"/>
          </p:cNvPicPr>
          <p:nvPr/>
        </p:nvPicPr>
        <p:blipFill rotWithShape="1">
          <a:blip r:embed="rId6" cstate="print">
            <a:extLst>
              <a:ext uri="{28A0092B-C50C-407E-A947-70E740481C1C}">
                <a14:useLocalDpi xmlns:a14="http://schemas.microsoft.com/office/drawing/2010/main" val="0"/>
              </a:ext>
            </a:extLst>
          </a:blip>
          <a:srcRect l="2569" t="1284" r="2716" b="3999"/>
          <a:stretch/>
        </p:blipFill>
        <p:spPr bwMode="auto">
          <a:xfrm>
            <a:off x="404664" y="5520835"/>
            <a:ext cx="288000" cy="288000"/>
          </a:xfrm>
          <a:prstGeom prst="rect">
            <a:avLst/>
          </a:prstGeom>
          <a:noFill/>
          <a:scene3d>
            <a:camera prst="orthographicFront"/>
            <a:lightRig rig="threePt" dir="t"/>
          </a:scene3d>
          <a:sp3d>
            <a:bevelT w="127000" h="50800" prst="softRound"/>
          </a:sp3d>
          <a:extLst>
            <a:ext uri="{909E8E84-426E-40DD-AFC4-6F175D3DCCD1}">
              <a14:hiddenFill xmlns:a14="http://schemas.microsoft.com/office/drawing/2010/main">
                <a:solidFill>
                  <a:srgbClr val="FFFFFF"/>
                </a:solidFill>
              </a14:hiddenFill>
            </a:ext>
          </a:extLst>
        </p:spPr>
      </p:pic>
      <p:pic>
        <p:nvPicPr>
          <p:cNvPr id="45" name="Picture 5" descr="d:\Documents and Settings\bazop\Escritorio\CV\Iconos\linkedin-icon-gif.gif">
            <a:extLst>
              <a:ext uri="{FF2B5EF4-FFF2-40B4-BE49-F238E27FC236}">
                <a16:creationId xmlns:a16="http://schemas.microsoft.com/office/drawing/2014/main" id="{7760C126-A611-DFC6-340D-4BA75D6025D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4664" y="5908506"/>
            <a:ext cx="288000" cy="288000"/>
          </a:xfrm>
          <a:prstGeom prst="rect">
            <a:avLst/>
          </a:prstGeom>
          <a:noFill/>
          <a:scene3d>
            <a:camera prst="orthographicFront"/>
            <a:lightRig rig="threePt" dir="t"/>
          </a:scene3d>
          <a:sp3d>
            <a:bevelT w="127000" h="50800" prst="softRound"/>
          </a:sp3d>
          <a:extLst>
            <a:ext uri="{909E8E84-426E-40DD-AFC4-6F175D3DCCD1}">
              <a14:hiddenFill xmlns:a14="http://schemas.microsoft.com/office/drawing/2010/main">
                <a:solidFill>
                  <a:srgbClr val="FFFFFF"/>
                </a:solidFill>
              </a14:hiddenFill>
            </a:ext>
          </a:extLst>
        </p:spPr>
      </p:pic>
      <p:pic>
        <p:nvPicPr>
          <p:cNvPr id="47" name="Picture 6" descr="d:\Documents and Settings\bazop\Escritorio\CV\Iconos\Instragram.png">
            <a:extLst>
              <a:ext uri="{FF2B5EF4-FFF2-40B4-BE49-F238E27FC236}">
                <a16:creationId xmlns:a16="http://schemas.microsoft.com/office/drawing/2014/main" id="{291BE3DF-A41D-9F76-A17A-10B010C9CEA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4664" y="6296176"/>
            <a:ext cx="288000" cy="288000"/>
          </a:xfrm>
          <a:prstGeom prst="rect">
            <a:avLst/>
          </a:prstGeom>
          <a:noFill/>
          <a:scene3d>
            <a:camera prst="orthographicFront"/>
            <a:lightRig rig="threePt" dir="t"/>
          </a:scene3d>
          <a:sp3d>
            <a:bevelT w="127000" h="50800" prst="softRound"/>
          </a:sp3d>
          <a:extLst>
            <a:ext uri="{909E8E84-426E-40DD-AFC4-6F175D3DCCD1}">
              <a14:hiddenFill xmlns:a14="http://schemas.microsoft.com/office/drawing/2010/main">
                <a:solidFill>
                  <a:srgbClr val="FFFFFF"/>
                </a:solidFill>
              </a14:hiddenFill>
            </a:ext>
          </a:extLst>
        </p:spPr>
      </p:pic>
      <p:sp>
        <p:nvSpPr>
          <p:cNvPr id="49" name="1 CuadroTexto">
            <a:extLst>
              <a:ext uri="{FF2B5EF4-FFF2-40B4-BE49-F238E27FC236}">
                <a16:creationId xmlns:a16="http://schemas.microsoft.com/office/drawing/2014/main" id="{6257FFA8-3ED1-5D63-F637-F7E79435FB51}"/>
              </a:ext>
            </a:extLst>
          </p:cNvPr>
          <p:cNvSpPr txBox="1"/>
          <p:nvPr/>
        </p:nvSpPr>
        <p:spPr>
          <a:xfrm>
            <a:off x="724685" y="5131015"/>
            <a:ext cx="1080120" cy="276999"/>
          </a:xfrm>
          <a:prstGeom prst="rect">
            <a:avLst/>
          </a:prstGeom>
          <a:noFill/>
        </p:spPr>
        <p:txBody>
          <a:bodyPr wrap="square" rtlCol="0">
            <a:spAutoFit/>
          </a:bodyPr>
          <a:lstStyle/>
          <a:p>
            <a:r>
              <a:rPr lang="es-VE" sz="1200" b="1" dirty="0">
                <a:solidFill>
                  <a:schemeClr val="tx2">
                    <a:lumMod val="50000"/>
                  </a:schemeClr>
                </a:solidFill>
                <a:hlinkClick r:id="rId9">
                  <a:extLst>
                    <a:ext uri="{A12FA001-AC4F-418D-AE19-62706E023703}">
                      <ahyp:hlinkClr xmlns:ahyp="http://schemas.microsoft.com/office/drawing/2018/hyperlinkcolor" val="tx"/>
                    </a:ext>
                  </a:extLst>
                </a:hlinkClick>
              </a:rPr>
              <a:t>petrix12</a:t>
            </a:r>
            <a:endParaRPr lang="es-VE" sz="1200" b="1" dirty="0">
              <a:solidFill>
                <a:schemeClr val="tx2">
                  <a:lumMod val="50000"/>
                </a:schemeClr>
              </a:solidFill>
            </a:endParaRPr>
          </a:p>
        </p:txBody>
      </p:sp>
      <p:sp>
        <p:nvSpPr>
          <p:cNvPr id="50" name="12 CuadroTexto">
            <a:extLst>
              <a:ext uri="{FF2B5EF4-FFF2-40B4-BE49-F238E27FC236}">
                <a16:creationId xmlns:a16="http://schemas.microsoft.com/office/drawing/2014/main" id="{3628BB39-2AF7-A7B9-F61D-04010B281293}"/>
              </a:ext>
            </a:extLst>
          </p:cNvPr>
          <p:cNvSpPr txBox="1"/>
          <p:nvPr/>
        </p:nvSpPr>
        <p:spPr>
          <a:xfrm>
            <a:off x="724685" y="5526773"/>
            <a:ext cx="1080120" cy="276999"/>
          </a:xfrm>
          <a:prstGeom prst="rect">
            <a:avLst/>
          </a:prstGeom>
          <a:noFill/>
        </p:spPr>
        <p:txBody>
          <a:bodyPr wrap="square" rtlCol="0">
            <a:spAutoFit/>
          </a:bodyPr>
          <a:lstStyle/>
          <a:p>
            <a:r>
              <a:rPr lang="es-VE" sz="1200" b="1" dirty="0" err="1">
                <a:solidFill>
                  <a:schemeClr val="tx2">
                    <a:lumMod val="50000"/>
                  </a:schemeClr>
                </a:solidFill>
                <a:hlinkClick r:id="rId10">
                  <a:extLst>
                    <a:ext uri="{A12FA001-AC4F-418D-AE19-62706E023703}">
                      <ahyp:hlinkClr xmlns:ahyp="http://schemas.microsoft.com/office/drawing/2018/hyperlinkcolor" val="tx"/>
                    </a:ext>
                  </a:extLst>
                </a:hlinkClick>
              </a:rPr>
              <a:t>solplusplus</a:t>
            </a:r>
            <a:endParaRPr lang="es-VE" sz="1200" b="1" dirty="0">
              <a:solidFill>
                <a:schemeClr val="tx2">
                  <a:lumMod val="50000"/>
                </a:schemeClr>
              </a:solidFill>
            </a:endParaRPr>
          </a:p>
        </p:txBody>
      </p:sp>
      <p:sp>
        <p:nvSpPr>
          <p:cNvPr id="52" name="14 CuadroTexto">
            <a:extLst>
              <a:ext uri="{FF2B5EF4-FFF2-40B4-BE49-F238E27FC236}">
                <a16:creationId xmlns:a16="http://schemas.microsoft.com/office/drawing/2014/main" id="{15AD5651-E85A-A1DA-71CD-8E438F5729EF}"/>
              </a:ext>
            </a:extLst>
          </p:cNvPr>
          <p:cNvSpPr txBox="1"/>
          <p:nvPr/>
        </p:nvSpPr>
        <p:spPr>
          <a:xfrm>
            <a:off x="724685" y="5922531"/>
            <a:ext cx="1008112" cy="276999"/>
          </a:xfrm>
          <a:prstGeom prst="rect">
            <a:avLst/>
          </a:prstGeom>
          <a:noFill/>
        </p:spPr>
        <p:txBody>
          <a:bodyPr wrap="square" rtlCol="0">
            <a:spAutoFit/>
          </a:bodyPr>
          <a:lstStyle/>
          <a:p>
            <a:r>
              <a:rPr lang="es-VE" sz="1200" b="1" dirty="0">
                <a:solidFill>
                  <a:schemeClr val="tx2">
                    <a:lumMod val="50000"/>
                  </a:schemeClr>
                </a:solidFill>
                <a:hlinkClick r:id="rId11">
                  <a:extLst>
                    <a:ext uri="{A12FA001-AC4F-418D-AE19-62706E023703}">
                      <ahyp:hlinkClr xmlns:ahyp="http://schemas.microsoft.com/office/drawing/2018/hyperlinkcolor" val="tx"/>
                    </a:ext>
                  </a:extLst>
                </a:hlinkClick>
              </a:rPr>
              <a:t>pedro-bazo</a:t>
            </a:r>
            <a:endParaRPr lang="es-VE" sz="1200" b="1" dirty="0">
              <a:solidFill>
                <a:schemeClr val="tx2">
                  <a:lumMod val="50000"/>
                </a:schemeClr>
              </a:solidFill>
            </a:endParaRPr>
          </a:p>
        </p:txBody>
      </p:sp>
      <p:sp>
        <p:nvSpPr>
          <p:cNvPr id="54" name="15 CuadroTexto">
            <a:extLst>
              <a:ext uri="{FF2B5EF4-FFF2-40B4-BE49-F238E27FC236}">
                <a16:creationId xmlns:a16="http://schemas.microsoft.com/office/drawing/2014/main" id="{44F01E34-7EDC-DF24-BB16-9628362C3DA5}"/>
              </a:ext>
            </a:extLst>
          </p:cNvPr>
          <p:cNvSpPr txBox="1"/>
          <p:nvPr/>
        </p:nvSpPr>
        <p:spPr>
          <a:xfrm>
            <a:off x="724685" y="6318290"/>
            <a:ext cx="1080120" cy="276999"/>
          </a:xfrm>
          <a:prstGeom prst="rect">
            <a:avLst/>
          </a:prstGeom>
          <a:noFill/>
        </p:spPr>
        <p:txBody>
          <a:bodyPr wrap="square" rtlCol="0">
            <a:spAutoFit/>
          </a:bodyPr>
          <a:lstStyle/>
          <a:p>
            <a:r>
              <a:rPr lang="es-VE" sz="1200" b="1" dirty="0" err="1">
                <a:solidFill>
                  <a:schemeClr val="tx2">
                    <a:lumMod val="50000"/>
                  </a:schemeClr>
                </a:solidFill>
                <a:hlinkClick r:id="rId12">
                  <a:extLst>
                    <a:ext uri="{A12FA001-AC4F-418D-AE19-62706E023703}">
                      <ahyp:hlinkClr xmlns:ahyp="http://schemas.microsoft.com/office/drawing/2018/hyperlinkcolor" val="tx"/>
                    </a:ext>
                  </a:extLst>
                </a:hlinkClick>
              </a:rPr>
              <a:t>bazopedro</a:t>
            </a:r>
            <a:endParaRPr lang="es-VE" sz="1200" b="1" dirty="0">
              <a:solidFill>
                <a:schemeClr val="tx2">
                  <a:lumMod val="50000"/>
                </a:schemeClr>
              </a:solidFill>
            </a:endParaRPr>
          </a:p>
        </p:txBody>
      </p:sp>
      <p:pic>
        <p:nvPicPr>
          <p:cNvPr id="56" name="Imagen 55">
            <a:extLst>
              <a:ext uri="{FF2B5EF4-FFF2-40B4-BE49-F238E27FC236}">
                <a16:creationId xmlns:a16="http://schemas.microsoft.com/office/drawing/2014/main" id="{C25C21AB-3ED5-3065-64DD-8F32A1D3195E}"/>
              </a:ext>
            </a:extLst>
          </p:cNvPr>
          <p:cNvPicPr>
            <a:picLocks noChangeAspect="1"/>
          </p:cNvPicPr>
          <p:nvPr/>
        </p:nvPicPr>
        <p:blipFill>
          <a:blip r:embed="rId13"/>
          <a:stretch>
            <a:fillRect/>
          </a:stretch>
        </p:blipFill>
        <p:spPr>
          <a:xfrm>
            <a:off x="404664" y="4745493"/>
            <a:ext cx="288000" cy="288000"/>
          </a:xfrm>
          <a:prstGeom prst="rect">
            <a:avLst/>
          </a:prstGeom>
        </p:spPr>
      </p:pic>
      <p:sp>
        <p:nvSpPr>
          <p:cNvPr id="58" name="CuadroTexto 57">
            <a:extLst>
              <a:ext uri="{FF2B5EF4-FFF2-40B4-BE49-F238E27FC236}">
                <a16:creationId xmlns:a16="http://schemas.microsoft.com/office/drawing/2014/main" id="{0C69B90D-1F9B-0A66-8A26-8A147F797079}"/>
              </a:ext>
            </a:extLst>
          </p:cNvPr>
          <p:cNvSpPr txBox="1"/>
          <p:nvPr/>
        </p:nvSpPr>
        <p:spPr>
          <a:xfrm>
            <a:off x="724685" y="4735257"/>
            <a:ext cx="1045448" cy="276999"/>
          </a:xfrm>
          <a:prstGeom prst="rect">
            <a:avLst/>
          </a:prstGeom>
          <a:noFill/>
        </p:spPr>
        <p:txBody>
          <a:bodyPr wrap="square" rtlCol="0">
            <a:spAutoFit/>
          </a:bodyPr>
          <a:lstStyle>
            <a:defPPr>
              <a:defRPr lang="es-ES"/>
            </a:defPPr>
            <a:lvl1pPr>
              <a:defRPr sz="800" b="1">
                <a:solidFill>
                  <a:schemeClr val="bg1"/>
                </a:solidFill>
              </a:defRPr>
            </a:lvl1pPr>
          </a:lstStyle>
          <a:p>
            <a:r>
              <a:rPr lang="es-VE" sz="1200" dirty="0">
                <a:solidFill>
                  <a:schemeClr val="tx2">
                    <a:lumMod val="50000"/>
                  </a:schemeClr>
                </a:solidFill>
                <a:hlinkClick r:id="rId14">
                  <a:extLst>
                    <a:ext uri="{A12FA001-AC4F-418D-AE19-62706E023703}">
                      <ahyp:hlinkClr xmlns:ahyp="http://schemas.microsoft.com/office/drawing/2018/hyperlinkcolor" val="tx"/>
                    </a:ext>
                  </a:extLst>
                </a:hlinkClick>
              </a:rPr>
              <a:t>petrix12</a:t>
            </a:r>
            <a:endParaRPr lang="es-VE" sz="1200" dirty="0">
              <a:solidFill>
                <a:schemeClr val="tx2">
                  <a:lumMod val="50000"/>
                </a:schemeClr>
              </a:solidFill>
            </a:endParaRPr>
          </a:p>
        </p:txBody>
      </p:sp>
      <p:pic>
        <p:nvPicPr>
          <p:cNvPr id="60" name="Imagen 59">
            <a:extLst>
              <a:ext uri="{FF2B5EF4-FFF2-40B4-BE49-F238E27FC236}">
                <a16:creationId xmlns:a16="http://schemas.microsoft.com/office/drawing/2014/main" id="{196D2CA2-38E6-6F26-98F6-65C29CDA9904}"/>
              </a:ext>
            </a:extLst>
          </p:cNvPr>
          <p:cNvPicPr preferRelativeResize="0">
            <a:picLocks/>
          </p:cNvPicPr>
          <p:nvPr/>
        </p:nvPicPr>
        <p:blipFill>
          <a:blip r:embed="rId15" cstate="print">
            <a:extLst>
              <a:ext uri="{28A0092B-C50C-407E-A947-70E740481C1C}">
                <a14:useLocalDpi xmlns:a14="http://schemas.microsoft.com/office/drawing/2010/main" val="0"/>
              </a:ext>
            </a:extLst>
          </a:blip>
          <a:stretch>
            <a:fillRect/>
          </a:stretch>
        </p:blipFill>
        <p:spPr>
          <a:xfrm>
            <a:off x="204003" y="2520990"/>
            <a:ext cx="540000" cy="540000"/>
          </a:xfrm>
          <a:prstGeom prst="rect">
            <a:avLst/>
          </a:prstGeom>
          <a:noFill/>
          <a:ln>
            <a:noFill/>
          </a:ln>
        </p:spPr>
      </p:pic>
      <p:pic>
        <p:nvPicPr>
          <p:cNvPr id="62" name="Imagen 61" descr="Icono&#10;&#10;Descripción generada automáticamente">
            <a:extLst>
              <a:ext uri="{FF2B5EF4-FFF2-40B4-BE49-F238E27FC236}">
                <a16:creationId xmlns:a16="http://schemas.microsoft.com/office/drawing/2014/main" id="{35F28EA8-380D-4B8F-1123-469ECFB8B080}"/>
              </a:ext>
            </a:extLst>
          </p:cNvPr>
          <p:cNvPicPr preferRelativeResize="0">
            <a:picLocks/>
          </p:cNvPicPr>
          <p:nvPr/>
        </p:nvPicPr>
        <p:blipFill>
          <a:blip r:embed="rId16" cstate="print">
            <a:extLst>
              <a:ext uri="{28A0092B-C50C-407E-A947-70E740481C1C}">
                <a14:useLocalDpi xmlns:a14="http://schemas.microsoft.com/office/drawing/2010/main" val="0"/>
              </a:ext>
            </a:extLst>
          </a:blip>
          <a:stretch>
            <a:fillRect/>
          </a:stretch>
        </p:blipFill>
        <p:spPr>
          <a:xfrm>
            <a:off x="1376831" y="2545768"/>
            <a:ext cx="540000" cy="540000"/>
          </a:xfrm>
          <a:prstGeom prst="rect">
            <a:avLst/>
          </a:prstGeom>
          <a:noFill/>
          <a:ln>
            <a:noFill/>
          </a:ln>
        </p:spPr>
      </p:pic>
      <p:pic>
        <p:nvPicPr>
          <p:cNvPr id="68" name="Picture 3" descr="F:\Petrix\Proyectos Propios\2019 Soluciones Office\Imagenes\Iconos\home.png">
            <a:extLst>
              <a:ext uri="{FF2B5EF4-FFF2-40B4-BE49-F238E27FC236}">
                <a16:creationId xmlns:a16="http://schemas.microsoft.com/office/drawing/2014/main" id="{DB340545-7186-044C-AB8B-282ACEF65C7D}"/>
              </a:ext>
            </a:extLst>
          </p:cNvPr>
          <p:cNvPicPr preferRelativeResize="0">
            <a:picLocks noChangeArrowheads="1"/>
          </p:cNvPicPr>
          <p:nvPr/>
        </p:nvPicPr>
        <p:blipFill rotWithShape="1">
          <a:blip r:embed="rId17" cstate="print">
            <a:extLst>
              <a:ext uri="{28A0092B-C50C-407E-A947-70E740481C1C}">
                <a14:useLocalDpi xmlns:a14="http://schemas.microsoft.com/office/drawing/2010/main" val="0"/>
              </a:ext>
            </a:extLst>
          </a:blip>
          <a:srcRect l="15183" t="14017" r="15139" b="16126"/>
          <a:stretch/>
        </p:blipFill>
        <p:spPr bwMode="auto">
          <a:xfrm>
            <a:off x="151208" y="7340792"/>
            <a:ext cx="288000" cy="28800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F:\Petrix\Proyectos Propios\2019 Soluciones Office\Imagenes\Iconos\phone-icon.png">
            <a:extLst>
              <a:ext uri="{FF2B5EF4-FFF2-40B4-BE49-F238E27FC236}">
                <a16:creationId xmlns:a16="http://schemas.microsoft.com/office/drawing/2014/main" id="{B87EBC76-89D1-8940-F83F-E4A93D841AB5}"/>
              </a:ext>
            </a:extLst>
          </p:cNvPr>
          <p:cNvPicPr>
            <a:picLocks noChangeAspect="1" noChangeArrowheads="1"/>
          </p:cNvPicPr>
          <p:nvPr/>
        </p:nvPicPr>
        <p:blipFill rotWithShape="1">
          <a:blip r:embed="rId18" cstate="print">
            <a:extLst>
              <a:ext uri="{28A0092B-C50C-407E-A947-70E740481C1C}">
                <a14:useLocalDpi xmlns:a14="http://schemas.microsoft.com/office/drawing/2010/main" val="0"/>
              </a:ext>
            </a:extLst>
          </a:blip>
          <a:srcRect l="15061" t="13782" r="14703" b="16470"/>
          <a:stretch/>
        </p:blipFill>
        <p:spPr bwMode="auto">
          <a:xfrm>
            <a:off x="151208" y="7956376"/>
            <a:ext cx="290014" cy="288000"/>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5" descr="F:\Petrix\Proyectos Propios\2019 Soluciones Office\Imagenes\Iconos\Email-icon-square.png">
            <a:extLst>
              <a:ext uri="{FF2B5EF4-FFF2-40B4-BE49-F238E27FC236}">
                <a16:creationId xmlns:a16="http://schemas.microsoft.com/office/drawing/2014/main" id="{6C92F962-10F4-2058-AEBC-8AB3B5F79748}"/>
              </a:ext>
            </a:extLst>
          </p:cNvPr>
          <p:cNvPicPr preferRelativeResize="0">
            <a:picLocks noChangeArrowheads="1"/>
          </p:cNvPicPr>
          <p:nvPr/>
        </p:nvPicPr>
        <p:blipFill rotWithShape="1">
          <a:blip r:embed="rId19" cstate="print">
            <a:extLst>
              <a:ext uri="{28A0092B-C50C-407E-A947-70E740481C1C}">
                <a14:useLocalDpi xmlns:a14="http://schemas.microsoft.com/office/drawing/2010/main" val="0"/>
              </a:ext>
            </a:extLst>
          </a:blip>
          <a:srcRect l="15332" t="13866" r="15211" b="16481"/>
          <a:stretch/>
        </p:blipFill>
        <p:spPr bwMode="auto">
          <a:xfrm>
            <a:off x="151208" y="8532472"/>
            <a:ext cx="288000" cy="288000"/>
          </a:xfrm>
          <a:prstGeom prst="rect">
            <a:avLst/>
          </a:prstGeom>
          <a:noFill/>
          <a:extLst>
            <a:ext uri="{909E8E84-426E-40DD-AFC4-6F175D3DCCD1}">
              <a14:hiddenFill xmlns:a14="http://schemas.microsoft.com/office/drawing/2010/main">
                <a:solidFill>
                  <a:srgbClr val="FFFFFF"/>
                </a:solidFill>
              </a14:hiddenFill>
            </a:ext>
          </a:extLst>
        </p:spPr>
      </p:pic>
      <p:sp>
        <p:nvSpPr>
          <p:cNvPr id="74" name="88 CuadroTexto">
            <a:extLst>
              <a:ext uri="{FF2B5EF4-FFF2-40B4-BE49-F238E27FC236}">
                <a16:creationId xmlns:a16="http://schemas.microsoft.com/office/drawing/2014/main" id="{52D2049C-D7F6-5D37-45AE-D977A547940C}"/>
              </a:ext>
            </a:extLst>
          </p:cNvPr>
          <p:cNvSpPr txBox="1"/>
          <p:nvPr/>
        </p:nvSpPr>
        <p:spPr>
          <a:xfrm>
            <a:off x="404664" y="7243916"/>
            <a:ext cx="1712828" cy="461665"/>
          </a:xfrm>
          <a:prstGeom prst="rect">
            <a:avLst/>
          </a:prstGeom>
          <a:noFill/>
        </p:spPr>
        <p:txBody>
          <a:bodyPr wrap="square" rtlCol="0">
            <a:spAutoFit/>
          </a:bodyPr>
          <a:lstStyle/>
          <a:p>
            <a:r>
              <a:rPr lang="es-ES" sz="800" b="1" dirty="0">
                <a:solidFill>
                  <a:schemeClr val="bg1"/>
                </a:solidFill>
              </a:rPr>
              <a:t>Calle Decano Prendes Pando 6. 5-F. Gijón. Asturias.</a:t>
            </a:r>
          </a:p>
          <a:p>
            <a:r>
              <a:rPr lang="es-ES" sz="800" b="1" dirty="0">
                <a:solidFill>
                  <a:schemeClr val="bg1"/>
                </a:solidFill>
              </a:rPr>
              <a:t>España. C.P. 33207.</a:t>
            </a:r>
            <a:endParaRPr lang="es-VE" sz="800" b="1" dirty="0">
              <a:solidFill>
                <a:schemeClr val="bg1"/>
              </a:solidFill>
            </a:endParaRPr>
          </a:p>
        </p:txBody>
      </p:sp>
      <p:sp>
        <p:nvSpPr>
          <p:cNvPr id="76" name="89 CuadroTexto">
            <a:extLst>
              <a:ext uri="{FF2B5EF4-FFF2-40B4-BE49-F238E27FC236}">
                <a16:creationId xmlns:a16="http://schemas.microsoft.com/office/drawing/2014/main" id="{22AAF3DE-ACC1-DC75-04AB-CEDB4E7CE16D}"/>
              </a:ext>
            </a:extLst>
          </p:cNvPr>
          <p:cNvSpPr txBox="1"/>
          <p:nvPr/>
        </p:nvSpPr>
        <p:spPr>
          <a:xfrm>
            <a:off x="403208" y="7962706"/>
            <a:ext cx="1444352" cy="276999"/>
          </a:xfrm>
          <a:prstGeom prst="rect">
            <a:avLst/>
          </a:prstGeom>
          <a:noFill/>
        </p:spPr>
        <p:txBody>
          <a:bodyPr wrap="square" rtlCol="0">
            <a:spAutoFit/>
          </a:bodyPr>
          <a:lstStyle/>
          <a:p>
            <a:r>
              <a:rPr lang="es-VE" sz="1200" b="1" dirty="0">
                <a:solidFill>
                  <a:schemeClr val="bg1"/>
                </a:solidFill>
              </a:rPr>
              <a:t>+34 613 98 00 99</a:t>
            </a:r>
          </a:p>
        </p:txBody>
      </p:sp>
      <p:sp>
        <p:nvSpPr>
          <p:cNvPr id="78" name="90 CuadroTexto">
            <a:extLst>
              <a:ext uri="{FF2B5EF4-FFF2-40B4-BE49-F238E27FC236}">
                <a16:creationId xmlns:a16="http://schemas.microsoft.com/office/drawing/2014/main" id="{E5E49233-201E-A0AC-7185-1D5DE4A05016}"/>
              </a:ext>
            </a:extLst>
          </p:cNvPr>
          <p:cNvSpPr txBox="1"/>
          <p:nvPr/>
        </p:nvSpPr>
        <p:spPr>
          <a:xfrm>
            <a:off x="404664" y="8551213"/>
            <a:ext cx="1728192" cy="253916"/>
          </a:xfrm>
          <a:prstGeom prst="rect">
            <a:avLst/>
          </a:prstGeom>
          <a:noFill/>
        </p:spPr>
        <p:txBody>
          <a:bodyPr wrap="square" rtlCol="0">
            <a:spAutoFit/>
          </a:bodyPr>
          <a:lstStyle/>
          <a:p>
            <a:r>
              <a:rPr lang="es-VE" sz="1050" b="1" dirty="0">
                <a:solidFill>
                  <a:schemeClr val="bg1"/>
                </a:solidFill>
              </a:rPr>
              <a:t>pedro.j.bazo.c@gmail.com</a:t>
            </a:r>
          </a:p>
        </p:txBody>
      </p:sp>
      <p:cxnSp>
        <p:nvCxnSpPr>
          <p:cNvPr id="80" name="13 Conector recto">
            <a:extLst>
              <a:ext uri="{FF2B5EF4-FFF2-40B4-BE49-F238E27FC236}">
                <a16:creationId xmlns:a16="http://schemas.microsoft.com/office/drawing/2014/main" id="{4A75D478-3F0E-4ADA-8AB7-E61F0CA93155}"/>
              </a:ext>
            </a:extLst>
          </p:cNvPr>
          <p:cNvCxnSpPr/>
          <p:nvPr/>
        </p:nvCxnSpPr>
        <p:spPr>
          <a:xfrm>
            <a:off x="204003" y="2411760"/>
            <a:ext cx="1712828" cy="0"/>
          </a:xfrm>
          <a:prstGeom prst="line">
            <a:avLst/>
          </a:prstGeom>
          <a:ln w="25400"/>
          <a:scene3d>
            <a:camera prst="orthographicFront"/>
            <a:lightRig rig="threePt" dir="t"/>
          </a:scene3d>
          <a:sp3d extrusionH="44450" contourW="6350">
            <a:bevelT h="114300"/>
          </a:sp3d>
        </p:spPr>
        <p:style>
          <a:lnRef idx="1">
            <a:schemeClr val="accent1"/>
          </a:lnRef>
          <a:fillRef idx="0">
            <a:schemeClr val="accent1"/>
          </a:fillRef>
          <a:effectRef idx="0">
            <a:schemeClr val="accent1"/>
          </a:effectRef>
          <a:fontRef idx="minor">
            <a:schemeClr val="tx1"/>
          </a:fontRef>
        </p:style>
      </p:cxnSp>
      <p:sp>
        <p:nvSpPr>
          <p:cNvPr id="84" name="CuadroTexto 83">
            <a:extLst>
              <a:ext uri="{FF2B5EF4-FFF2-40B4-BE49-F238E27FC236}">
                <a16:creationId xmlns:a16="http://schemas.microsoft.com/office/drawing/2014/main" id="{5F58E37A-B2B8-2348-F2BD-CA5360B2F5F9}"/>
              </a:ext>
            </a:extLst>
          </p:cNvPr>
          <p:cNvSpPr txBox="1"/>
          <p:nvPr/>
        </p:nvSpPr>
        <p:spPr>
          <a:xfrm>
            <a:off x="2129611" y="1525587"/>
            <a:ext cx="4665659" cy="7078861"/>
          </a:xfrm>
          <a:prstGeom prst="rect">
            <a:avLst/>
          </a:prstGeom>
          <a:noFill/>
        </p:spPr>
        <p:txBody>
          <a:bodyPr wrap="square">
            <a:spAutoFit/>
          </a:bodyPr>
          <a:lstStyle/>
          <a:p>
            <a:pPr algn="just">
              <a:spcAft>
                <a:spcPts val="1200"/>
              </a:spcAft>
            </a:pPr>
            <a:r>
              <a:rPr lang="es-ES" sz="1100" b="1" dirty="0">
                <a:solidFill>
                  <a:schemeClr val="bg1">
                    <a:lumMod val="50000"/>
                  </a:schemeClr>
                </a:solidFill>
                <a:latin typeface="Georgia" panose="02040502050405020303" pitchFamily="18" charset="0"/>
              </a:rPr>
              <a:t>Mi nombre es Pedro </a:t>
            </a:r>
            <a:r>
              <a:rPr lang="es-ES" sz="1100" b="1" dirty="0" err="1">
                <a:solidFill>
                  <a:schemeClr val="bg1">
                    <a:lumMod val="50000"/>
                  </a:schemeClr>
                </a:solidFill>
                <a:latin typeface="Georgia" panose="02040502050405020303" pitchFamily="18" charset="0"/>
              </a:rPr>
              <a:t>Bazó</a:t>
            </a:r>
            <a:r>
              <a:rPr lang="es-ES" sz="1100" b="1" dirty="0">
                <a:solidFill>
                  <a:schemeClr val="bg1">
                    <a:lumMod val="50000"/>
                  </a:schemeClr>
                </a:solidFill>
                <a:latin typeface="Georgia" panose="02040502050405020303" pitchFamily="18" charset="0"/>
              </a:rPr>
              <a:t>, y mi trayectoria es la unión perfecta entre el rigor de la </a:t>
            </a:r>
            <a:r>
              <a:rPr lang="es-ES" sz="1100" b="1" dirty="0">
                <a:solidFill>
                  <a:srgbClr val="002060"/>
                </a:solidFill>
                <a:latin typeface="Georgia" panose="02040502050405020303" pitchFamily="18" charset="0"/>
              </a:rPr>
              <a:t>Ingeniería Química</a:t>
            </a:r>
            <a:r>
              <a:rPr lang="es-ES" sz="1100" b="1" dirty="0">
                <a:solidFill>
                  <a:schemeClr val="bg1">
                    <a:lumMod val="50000"/>
                  </a:schemeClr>
                </a:solidFill>
                <a:latin typeface="Georgia" panose="02040502050405020303" pitchFamily="18" charset="0"/>
              </a:rPr>
              <a:t> y la versatilidad del </a:t>
            </a:r>
            <a:r>
              <a:rPr lang="es-ES" sz="1100" b="1" dirty="0">
                <a:solidFill>
                  <a:srgbClr val="002060"/>
                </a:solidFill>
                <a:latin typeface="Georgia" panose="02040502050405020303" pitchFamily="18" charset="0"/>
              </a:rPr>
              <a:t>Desarrollo de Software</a:t>
            </a:r>
            <a:r>
              <a:rPr lang="es-ES" sz="1100" b="1" dirty="0">
                <a:solidFill>
                  <a:schemeClr val="bg1">
                    <a:lumMod val="50000"/>
                  </a:schemeClr>
                </a:solidFill>
                <a:latin typeface="Georgia" panose="02040502050405020303" pitchFamily="18" charset="0"/>
              </a:rPr>
              <a:t>. Con más de 20 años de experiencia técnica, me especializo en transformar problemas de negocio complejos en arquitecturas web escalables y eficientes.</a:t>
            </a:r>
          </a:p>
          <a:p>
            <a:pPr algn="just">
              <a:spcAft>
                <a:spcPts val="1200"/>
              </a:spcAft>
            </a:pPr>
            <a:r>
              <a:rPr lang="es-ES" sz="1100" b="1" dirty="0">
                <a:solidFill>
                  <a:schemeClr val="bg1">
                    <a:lumMod val="50000"/>
                  </a:schemeClr>
                </a:solidFill>
                <a:latin typeface="Georgia" panose="02040502050405020303" pitchFamily="18" charset="0"/>
              </a:rPr>
              <a:t>Mi </a:t>
            </a:r>
            <a:r>
              <a:rPr lang="es-ES" sz="1100" b="1" dirty="0" err="1">
                <a:solidFill>
                  <a:schemeClr val="bg1">
                    <a:lumMod val="50000"/>
                  </a:schemeClr>
                </a:solidFill>
                <a:latin typeface="Georgia" panose="02040502050405020303" pitchFamily="18" charset="0"/>
              </a:rPr>
              <a:t>expertise</a:t>
            </a:r>
            <a:r>
              <a:rPr lang="es-ES" sz="1100" b="1" dirty="0">
                <a:solidFill>
                  <a:schemeClr val="bg1">
                    <a:lumMod val="50000"/>
                  </a:schemeClr>
                </a:solidFill>
                <a:latin typeface="Georgia" panose="02040502050405020303" pitchFamily="18" charset="0"/>
              </a:rPr>
              <a:t> actual se centra en el ecosistema </a:t>
            </a:r>
            <a:r>
              <a:rPr lang="es-ES" sz="1100" b="1" dirty="0">
                <a:solidFill>
                  <a:srgbClr val="002060"/>
                </a:solidFill>
                <a:latin typeface="Georgia" panose="02040502050405020303" pitchFamily="18" charset="0"/>
              </a:rPr>
              <a:t>PHP/Laravel y Vue.js</a:t>
            </a:r>
            <a:r>
              <a:rPr lang="es-ES" sz="1100" b="1" dirty="0">
                <a:solidFill>
                  <a:schemeClr val="bg1">
                    <a:lumMod val="50000"/>
                  </a:schemeClr>
                </a:solidFill>
                <a:latin typeface="Georgia" panose="02040502050405020303" pitchFamily="18" charset="0"/>
              </a:rPr>
              <a:t>, complementado con una sólida capacidad en infraestructura Cloud (</a:t>
            </a:r>
            <a:r>
              <a:rPr lang="es-ES" sz="1100" b="1" dirty="0">
                <a:solidFill>
                  <a:srgbClr val="002060"/>
                </a:solidFill>
                <a:latin typeface="Georgia" panose="02040502050405020303" pitchFamily="18" charset="0"/>
              </a:rPr>
              <a:t>AWS/Docker</a:t>
            </a:r>
            <a:r>
              <a:rPr lang="es-ES" sz="1100" b="1" dirty="0">
                <a:solidFill>
                  <a:schemeClr val="bg1">
                    <a:lumMod val="50000"/>
                  </a:schemeClr>
                </a:solidFill>
                <a:latin typeface="Georgia" panose="02040502050405020303" pitchFamily="18" charset="0"/>
              </a:rPr>
              <a:t>) y gestión de datos críticos (</a:t>
            </a:r>
            <a:r>
              <a:rPr lang="es-ES" sz="1100" b="1" dirty="0">
                <a:solidFill>
                  <a:srgbClr val="002060"/>
                </a:solidFill>
                <a:latin typeface="Georgia" panose="02040502050405020303" pitchFamily="18" charset="0"/>
              </a:rPr>
              <a:t>SQL Expert</a:t>
            </a:r>
            <a:r>
              <a:rPr lang="es-ES" sz="1100" b="1" dirty="0">
                <a:solidFill>
                  <a:schemeClr val="bg1">
                    <a:lumMod val="50000"/>
                  </a:schemeClr>
                </a:solidFill>
                <a:latin typeface="Georgia" panose="02040502050405020303" pitchFamily="18" charset="0"/>
              </a:rPr>
              <a:t>). Recientemente, he liderado la modernización de plataformas en el sector </a:t>
            </a:r>
            <a:r>
              <a:rPr lang="es-ES" sz="1100" b="1" dirty="0" err="1">
                <a:solidFill>
                  <a:srgbClr val="002060"/>
                </a:solidFill>
                <a:latin typeface="Georgia" panose="02040502050405020303" pitchFamily="18" charset="0"/>
              </a:rPr>
              <a:t>HealthTech</a:t>
            </a:r>
            <a:r>
              <a:rPr lang="es-ES" sz="1100" b="1" dirty="0">
                <a:solidFill>
                  <a:schemeClr val="bg1">
                    <a:lumMod val="50000"/>
                  </a:schemeClr>
                </a:solidFill>
                <a:latin typeface="Georgia" panose="02040502050405020303" pitchFamily="18" charset="0"/>
              </a:rPr>
              <a:t>, donde optimicé la interoperabilidad de datos entre sistemas heterogéneos y mejoré significativamente los ciclos de despliegue y estabilidad.</a:t>
            </a:r>
          </a:p>
          <a:p>
            <a:pPr algn="just">
              <a:spcAft>
                <a:spcPts val="1200"/>
              </a:spcAft>
            </a:pPr>
            <a:r>
              <a:rPr lang="es-ES" sz="1100" b="1" dirty="0">
                <a:solidFill>
                  <a:schemeClr val="bg1">
                    <a:lumMod val="50000"/>
                  </a:schemeClr>
                </a:solidFill>
                <a:latin typeface="Georgia" panose="02040502050405020303" pitchFamily="18" charset="0"/>
              </a:rPr>
              <a:t>Vengo de una escuela de formación rigurosa (</a:t>
            </a:r>
            <a:r>
              <a:rPr lang="es-ES" sz="1100" b="1" dirty="0">
                <a:solidFill>
                  <a:srgbClr val="002060"/>
                </a:solidFill>
                <a:latin typeface="Georgia" panose="02040502050405020303" pitchFamily="18" charset="0"/>
              </a:rPr>
              <a:t>Pascal, C/C++, Delphi</a:t>
            </a:r>
            <a:r>
              <a:rPr lang="es-ES" sz="1100" b="1" dirty="0">
                <a:solidFill>
                  <a:schemeClr val="bg1">
                    <a:lumMod val="50000"/>
                  </a:schemeClr>
                </a:solidFill>
                <a:latin typeface="Georgia" panose="02040502050405020303" pitchFamily="18" charset="0"/>
              </a:rPr>
              <a:t>), lo que me otorga una comprensión profunda de lo que sucede 'bajo el capó' de cualquier aplicación. Esta base me permitió, durante años en la industria petrolera, diseñar sistemas híbridos de automatización que manejaban volúmenes masivos de información, siempre con un objetivo claro: la eficiencia operativa y la precisión del dato.</a:t>
            </a:r>
          </a:p>
          <a:p>
            <a:pPr algn="just">
              <a:spcAft>
                <a:spcPts val="1200"/>
              </a:spcAft>
            </a:pPr>
            <a:r>
              <a:rPr lang="es-ES" sz="1100" b="1" dirty="0">
                <a:solidFill>
                  <a:schemeClr val="bg1">
                    <a:lumMod val="50000"/>
                  </a:schemeClr>
                </a:solidFill>
                <a:latin typeface="Georgia" panose="02040502050405020303" pitchFamily="18" charset="0"/>
              </a:rPr>
              <a:t>No soy solo un desarrollador; soy un ingeniero que entiende los procesos de planificación, presupuesto y diseño de proyectos, lo que me permite comunicarme eficazmente con equipos de negocio y tecnología. Mi enfoque es siempre la calidad del código, la escalabilidad y la entrega de soluciones que aporten un valor real desde el primer clic.</a:t>
            </a:r>
          </a:p>
          <a:p>
            <a:pPr algn="just">
              <a:spcAft>
                <a:spcPts val="1200"/>
              </a:spcAft>
            </a:pPr>
            <a:r>
              <a:rPr lang="es-ES" sz="1100" b="1" dirty="0">
                <a:solidFill>
                  <a:schemeClr val="bg1">
                    <a:lumMod val="50000"/>
                  </a:schemeClr>
                </a:solidFill>
                <a:latin typeface="Georgia" panose="02040502050405020303" pitchFamily="18" charset="0"/>
              </a:rPr>
              <a:t>Para conocer más detalles sobre mi trayectoria y visión técnica, te invito a </a:t>
            </a:r>
            <a:r>
              <a:rPr lang="es-ES" sz="1100" b="1" dirty="0" err="1">
                <a:solidFill>
                  <a:schemeClr val="bg1">
                    <a:lumMod val="50000"/>
                  </a:schemeClr>
                </a:solidFill>
                <a:latin typeface="Georgia" panose="02040502050405020303" pitchFamily="18" charset="0"/>
              </a:rPr>
              <a:t>consultar:l</a:t>
            </a:r>
            <a:r>
              <a:rPr lang="es-ES" sz="1100" b="1" dirty="0">
                <a:solidFill>
                  <a:schemeClr val="bg1">
                    <a:lumMod val="50000"/>
                  </a:schemeClr>
                </a:solidFill>
                <a:latin typeface="Georgia" panose="02040502050405020303" pitchFamily="18" charset="0"/>
              </a:rPr>
              <a:t>:</a:t>
            </a:r>
          </a:p>
          <a:p>
            <a:pPr algn="just">
              <a:spcAft>
                <a:spcPts val="1200"/>
              </a:spcAft>
            </a:pPr>
            <a:r>
              <a:rPr lang="es-ES" sz="1100" b="1" dirty="0">
                <a:solidFill>
                  <a:schemeClr val="bg1">
                    <a:lumMod val="50000"/>
                  </a:schemeClr>
                </a:solidFill>
                <a:latin typeface="Georgia" panose="02040502050405020303" pitchFamily="18" charset="0"/>
              </a:rPr>
              <a:t>	</a:t>
            </a:r>
            <a:r>
              <a:rPr lang="es-ES" sz="1100" b="1" dirty="0">
                <a:solidFill>
                  <a:schemeClr val="bg1">
                    <a:lumMod val="50000"/>
                  </a:schemeClr>
                </a:solidFill>
                <a:latin typeface="Georgia" panose="02040502050405020303" pitchFamily="18" charset="0"/>
                <a:hlinkClick r:id="rId20">
                  <a:extLst>
                    <a:ext uri="{A12FA001-AC4F-418D-AE19-62706E023703}">
                      <ahyp:hlinkClr xmlns:ahyp="http://schemas.microsoft.com/office/drawing/2018/hyperlinkcolor" val="tx"/>
                    </a:ext>
                  </a:extLst>
                </a:hlinkClick>
              </a:rPr>
              <a:t>Mi video presentación</a:t>
            </a:r>
            <a:r>
              <a:rPr lang="es-ES" sz="1100" b="1" dirty="0">
                <a:solidFill>
                  <a:schemeClr val="bg1">
                    <a:lumMod val="50000"/>
                  </a:schemeClr>
                </a:solidFill>
                <a:latin typeface="Georgia" panose="02040502050405020303" pitchFamily="18" charset="0"/>
              </a:rPr>
              <a:t>.</a:t>
            </a:r>
          </a:p>
          <a:p>
            <a:pPr algn="just">
              <a:spcAft>
                <a:spcPts val="1200"/>
              </a:spcAft>
            </a:pPr>
            <a:r>
              <a:rPr lang="es-ES" sz="1100" b="1" dirty="0">
                <a:solidFill>
                  <a:schemeClr val="bg1">
                    <a:lumMod val="50000"/>
                  </a:schemeClr>
                </a:solidFill>
                <a:latin typeface="Georgia" panose="02040502050405020303" pitchFamily="18" charset="0"/>
              </a:rPr>
              <a:t>	</a:t>
            </a:r>
            <a:r>
              <a:rPr lang="es-ES" sz="1100" b="1" dirty="0">
                <a:solidFill>
                  <a:schemeClr val="bg1">
                    <a:lumMod val="50000"/>
                  </a:schemeClr>
                </a:solidFill>
                <a:latin typeface="Georgia" panose="02040502050405020303" pitchFamily="18" charset="0"/>
                <a:hlinkClick r:id="rId21">
                  <a:extLst>
                    <a:ext uri="{A12FA001-AC4F-418D-AE19-62706E023703}">
                      <ahyp:hlinkClr xmlns:ahyp="http://schemas.microsoft.com/office/drawing/2018/hyperlinkcolor" val="tx"/>
                    </a:ext>
                  </a:extLst>
                </a:hlinkClick>
              </a:rPr>
              <a:t>Mi resumen curricular</a:t>
            </a:r>
            <a:r>
              <a:rPr lang="es-ES" sz="1100" b="1" dirty="0">
                <a:solidFill>
                  <a:schemeClr val="bg1">
                    <a:lumMod val="50000"/>
                  </a:schemeClr>
                </a:solidFill>
                <a:latin typeface="Georgia" panose="02040502050405020303" pitchFamily="18" charset="0"/>
              </a:rPr>
              <a:t>.</a:t>
            </a:r>
          </a:p>
          <a:p>
            <a:pPr algn="just">
              <a:spcAft>
                <a:spcPts val="1200"/>
              </a:spcAft>
            </a:pPr>
            <a:r>
              <a:rPr lang="es-ES" sz="1100" b="1" dirty="0">
                <a:solidFill>
                  <a:schemeClr val="bg1">
                    <a:lumMod val="50000"/>
                  </a:schemeClr>
                </a:solidFill>
                <a:latin typeface="Georgia" panose="02040502050405020303" pitchFamily="18" charset="0"/>
              </a:rPr>
              <a:t>	</a:t>
            </a:r>
            <a:r>
              <a:rPr lang="es-ES" sz="1100" b="1" dirty="0">
                <a:solidFill>
                  <a:schemeClr val="bg1">
                    <a:lumMod val="50000"/>
                  </a:schemeClr>
                </a:solidFill>
                <a:latin typeface="Georgia" panose="02040502050405020303" pitchFamily="18" charset="0"/>
                <a:hlinkClick r:id="rId2">
                  <a:extLst>
                    <a:ext uri="{A12FA001-AC4F-418D-AE19-62706E023703}">
                      <ahyp:hlinkClr xmlns:ahyp="http://schemas.microsoft.com/office/drawing/2018/hyperlinkcolor" val="tx"/>
                    </a:ext>
                  </a:extLst>
                </a:hlinkClick>
              </a:rPr>
              <a:t>Mi portafolio</a:t>
            </a:r>
            <a:r>
              <a:rPr lang="es-ES" sz="1100" b="1" dirty="0">
                <a:solidFill>
                  <a:schemeClr val="bg1">
                    <a:lumMod val="50000"/>
                  </a:schemeClr>
                </a:solidFill>
                <a:latin typeface="Georgia" panose="02040502050405020303" pitchFamily="18" charset="0"/>
              </a:rPr>
              <a:t>.</a:t>
            </a:r>
          </a:p>
          <a:p>
            <a:pPr algn="just">
              <a:spcAft>
                <a:spcPts val="1200"/>
              </a:spcAft>
            </a:pPr>
            <a:r>
              <a:rPr lang="es-ES" sz="1100" b="1" dirty="0">
                <a:solidFill>
                  <a:schemeClr val="bg1">
                    <a:lumMod val="50000"/>
                  </a:schemeClr>
                </a:solidFill>
                <a:latin typeface="Georgia" panose="02040502050405020303" pitchFamily="18" charset="0"/>
              </a:rPr>
              <a:t>Gracias por su tiempo y consideración. Estoy listo para aportar mi experiencia a su próximo gran desafío técnico.</a:t>
            </a:r>
          </a:p>
        </p:txBody>
      </p:sp>
      <p:pic>
        <p:nvPicPr>
          <p:cNvPr id="85" name="Imagen 84">
            <a:hlinkClick r:id="rId2"/>
            <a:extLst>
              <a:ext uri="{FF2B5EF4-FFF2-40B4-BE49-F238E27FC236}">
                <a16:creationId xmlns:a16="http://schemas.microsoft.com/office/drawing/2014/main" id="{02543E82-1E81-6A79-DEA1-953ECFC86785}"/>
              </a:ext>
            </a:extLst>
          </p:cNvPr>
          <p:cNvPicPr>
            <a:picLocks noChangeAspect="1"/>
          </p:cNvPicPr>
          <p:nvPr/>
        </p:nvPicPr>
        <p:blipFill>
          <a:blip r:embed="rId22"/>
          <a:stretch>
            <a:fillRect/>
          </a:stretch>
        </p:blipFill>
        <p:spPr>
          <a:xfrm>
            <a:off x="2857152" y="7830824"/>
            <a:ext cx="216000" cy="216000"/>
          </a:xfrm>
          <a:prstGeom prst="flowChartConnector">
            <a:avLst/>
          </a:prstGeom>
        </p:spPr>
      </p:pic>
      <p:pic>
        <p:nvPicPr>
          <p:cNvPr id="87" name="Imagen 86" descr="Imagen que contiene Icono&#10;&#10;Descripción generada automáticamente">
            <a:hlinkClick r:id="rId21"/>
            <a:extLst>
              <a:ext uri="{FF2B5EF4-FFF2-40B4-BE49-F238E27FC236}">
                <a16:creationId xmlns:a16="http://schemas.microsoft.com/office/drawing/2014/main" id="{283CF64A-27EF-1417-FD59-9EB812B8D1F2}"/>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2857152" y="7511411"/>
            <a:ext cx="216000" cy="216000"/>
          </a:xfrm>
          <a:prstGeom prst="flowChartConnector">
            <a:avLst/>
          </a:prstGeom>
        </p:spPr>
      </p:pic>
      <p:pic>
        <p:nvPicPr>
          <p:cNvPr id="93" name="Imagen 92" descr="Un dibujo de una cara feliz&#10;&#10;Descripción generada automáticamente con confianza baja">
            <a:hlinkClick r:id="rId20"/>
            <a:extLst>
              <a:ext uri="{FF2B5EF4-FFF2-40B4-BE49-F238E27FC236}">
                <a16:creationId xmlns:a16="http://schemas.microsoft.com/office/drawing/2014/main" id="{95E383A1-F57A-C45A-5EB5-94CF9149DB77}"/>
              </a:ext>
            </a:extLst>
          </p:cNvPr>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2857152" y="7191998"/>
            <a:ext cx="216000" cy="216000"/>
          </a:xfrm>
          <a:prstGeom prst="flowChartConnector">
            <a:avLst/>
          </a:prstGeom>
        </p:spPr>
      </p:pic>
      <p:pic>
        <p:nvPicPr>
          <p:cNvPr id="4" name="Imagen 3" descr="Logotipo&#10;&#10;El contenido generado por IA puede ser incorrecto.">
            <a:extLst>
              <a:ext uri="{FF2B5EF4-FFF2-40B4-BE49-F238E27FC236}">
                <a16:creationId xmlns:a16="http://schemas.microsoft.com/office/drawing/2014/main" id="{9F969CF1-76BE-7602-A057-E75FF37DBC3B}"/>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204003" y="3638753"/>
            <a:ext cx="540000" cy="540000"/>
          </a:xfrm>
          <a:prstGeom prst="rect">
            <a:avLst/>
          </a:prstGeom>
        </p:spPr>
      </p:pic>
      <p:pic>
        <p:nvPicPr>
          <p:cNvPr id="9" name="Imagen 8" descr="Icono&#10;&#10;El contenido generado por IA puede ser incorrecto.">
            <a:extLst>
              <a:ext uri="{FF2B5EF4-FFF2-40B4-BE49-F238E27FC236}">
                <a16:creationId xmlns:a16="http://schemas.microsoft.com/office/drawing/2014/main" id="{E5C66EC2-DCBB-4557-89E3-7352B776FA45}"/>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1328591" y="3654000"/>
            <a:ext cx="540000" cy="540000"/>
          </a:xfrm>
          <a:prstGeom prst="rect">
            <a:avLst/>
          </a:prstGeom>
        </p:spPr>
      </p:pic>
      <p:pic>
        <p:nvPicPr>
          <p:cNvPr id="11" name="Imagen 10" descr="Forma&#10;&#10;El contenido generado por IA puede ser incorrecto.">
            <a:extLst>
              <a:ext uri="{FF2B5EF4-FFF2-40B4-BE49-F238E27FC236}">
                <a16:creationId xmlns:a16="http://schemas.microsoft.com/office/drawing/2014/main" id="{01AA4226-B111-1774-57B0-92F3EAA9A634}"/>
              </a:ext>
            </a:extLst>
          </p:cNvPr>
          <p:cNvPicPr preferRelativeResize="0">
            <a:picLocks/>
          </p:cNvPicPr>
          <p:nvPr/>
        </p:nvPicPr>
        <p:blipFill>
          <a:blip r:embed="rId27" cstate="print">
            <a:extLst>
              <a:ext uri="{28A0092B-C50C-407E-A947-70E740481C1C}">
                <a14:useLocalDpi xmlns:a14="http://schemas.microsoft.com/office/drawing/2010/main" val="0"/>
              </a:ext>
            </a:extLst>
          </a:blip>
          <a:stretch>
            <a:fillRect/>
          </a:stretch>
        </p:blipFill>
        <p:spPr>
          <a:xfrm>
            <a:off x="809694" y="3089699"/>
            <a:ext cx="540000" cy="540000"/>
          </a:xfrm>
          <a:prstGeom prst="rect">
            <a:avLst/>
          </a:prstGeom>
        </p:spPr>
      </p:pic>
    </p:spTree>
    <p:extLst>
      <p:ext uri="{BB962C8B-B14F-4D97-AF65-F5344CB8AC3E}">
        <p14:creationId xmlns:p14="http://schemas.microsoft.com/office/powerpoint/2010/main" val="2973086865"/>
      </p:ext>
    </p:extLst>
  </p:cSld>
  <p:clrMapOvr>
    <a:masterClrMapping/>
  </p:clrMapOvr>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1724</TotalTime>
  <Words>371</Words>
  <Application>Microsoft Office PowerPoint</Application>
  <PresentationFormat>Presentación en pantalla (4:3)</PresentationFormat>
  <Paragraphs>20</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Georgia</vt:lpstr>
      <vt:lpstr>Tema de Office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Office CCS</cp:lastModifiedBy>
  <cp:revision>115</cp:revision>
  <cp:lastPrinted>2019-07-10T13:23:33Z</cp:lastPrinted>
  <dcterms:modified xsi:type="dcterms:W3CDTF">2026-04-22T11:48:55Z</dcterms:modified>
</cp:coreProperties>
</file>