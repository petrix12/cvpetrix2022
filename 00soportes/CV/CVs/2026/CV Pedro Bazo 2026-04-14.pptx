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7315200" cy="96012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586" y="-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-2022" y="-9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E5B1206-967F-4C5D-BDDE-8FB8311D7112}" type="datetimeFigureOut">
              <a:rPr lang="es-VE" smtClean="0"/>
              <a:t>15/4/2026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720725"/>
            <a:ext cx="27019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8C720D2-8991-451A-890C-64C72B9B023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0244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58C1F2C8-039F-3F78-5BB8-9D5420CB52AE}"/>
              </a:ext>
            </a:extLst>
          </p:cNvPr>
          <p:cNvPicPr preferRelativeResize="0">
            <a:picLocks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812" y="1679956"/>
            <a:ext cx="1080000" cy="1080000"/>
          </a:xfrm>
          <a:prstGeom prst="rect">
            <a:avLst/>
          </a:prstGeom>
        </p:spPr>
      </p:pic>
      <p:pic>
        <p:nvPicPr>
          <p:cNvPr id="10" name="Imagen 9" descr="Icono&#10;&#10;Descripción generada automáticamente">
            <a:extLst>
              <a:ext uri="{FF2B5EF4-FFF2-40B4-BE49-F238E27FC236}">
                <a16:creationId xmlns:a16="http://schemas.microsoft.com/office/drawing/2014/main" id="{A728ED7A-DD20-8E7D-BB87-5D187F75C727}"/>
              </a:ext>
            </a:extLst>
          </p:cNvPr>
          <p:cNvPicPr preferRelativeResize="0">
            <a:picLocks/>
          </p:cNvPicPr>
          <p:nvPr userDrawn="1"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46" y="1679956"/>
            <a:ext cx="1080000" cy="1080000"/>
          </a:xfrm>
          <a:prstGeom prst="rect">
            <a:avLst/>
          </a:prstGeom>
        </p:spPr>
      </p:pic>
      <p:pic>
        <p:nvPicPr>
          <p:cNvPr id="12" name="Imagen 11" descr="Icono&#10;&#10;Descripción generada automáticamente">
            <a:extLst>
              <a:ext uri="{FF2B5EF4-FFF2-40B4-BE49-F238E27FC236}">
                <a16:creationId xmlns:a16="http://schemas.microsoft.com/office/drawing/2014/main" id="{06976835-9533-7552-7725-AFA55BAFD84B}"/>
              </a:ext>
            </a:extLst>
          </p:cNvPr>
          <p:cNvPicPr preferRelativeResize="0">
            <a:picLocks/>
          </p:cNvPicPr>
          <p:nvPr userDrawn="1"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81" y="2958514"/>
            <a:ext cx="1080000" cy="1080000"/>
          </a:xfrm>
          <a:prstGeom prst="rect">
            <a:avLst/>
          </a:prstGeom>
        </p:spPr>
      </p:pic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535F5A36-A6AF-63CF-A661-96C0412CC1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20" y="2958514"/>
            <a:ext cx="1086795" cy="1080000"/>
          </a:xfrm>
          <a:prstGeom prst="rect">
            <a:avLst/>
          </a:prstGeom>
        </p:spPr>
      </p:pic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03EDCF48-2808-8727-E764-C10B77BEA6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812" y="4217822"/>
            <a:ext cx="1080000" cy="1080000"/>
          </a:xfrm>
          <a:prstGeom prst="rect">
            <a:avLst/>
          </a:prstGeom>
        </p:spPr>
      </p:pic>
      <p:pic>
        <p:nvPicPr>
          <p:cNvPr id="18" name="Imagen 17" descr="Logotipo, Icono&#10;&#10;Descripción generada automáticamente">
            <a:extLst>
              <a:ext uri="{FF2B5EF4-FFF2-40B4-BE49-F238E27FC236}">
                <a16:creationId xmlns:a16="http://schemas.microsoft.com/office/drawing/2014/main" id="{5E66FBEE-5BC7-24F5-5965-3BA0279CA8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46" y="4217822"/>
            <a:ext cx="1080000" cy="1080000"/>
          </a:xfrm>
          <a:prstGeom prst="rect">
            <a:avLst/>
          </a:prstGeom>
        </p:spPr>
      </p:pic>
      <p:pic>
        <p:nvPicPr>
          <p:cNvPr id="20" name="Imagen 19" descr="Forma, Icono&#10;&#10;Descripción generada automáticamente con confianza media">
            <a:extLst>
              <a:ext uri="{FF2B5EF4-FFF2-40B4-BE49-F238E27FC236}">
                <a16:creationId xmlns:a16="http://schemas.microsoft.com/office/drawing/2014/main" id="{BB92BD18-4CD7-2CDB-DCF4-C971D5B0543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81" y="5461208"/>
            <a:ext cx="1080000" cy="1080000"/>
          </a:xfrm>
          <a:prstGeom prst="rect">
            <a:avLst/>
          </a:prstGeom>
        </p:spPr>
      </p:pic>
      <p:pic>
        <p:nvPicPr>
          <p:cNvPr id="22" name="Imagen 21" descr="Icono&#10;&#10;Descripción generada automáticamente">
            <a:extLst>
              <a:ext uri="{FF2B5EF4-FFF2-40B4-BE49-F238E27FC236}">
                <a16:creationId xmlns:a16="http://schemas.microsoft.com/office/drawing/2014/main" id="{5BA98A10-A9F7-15EA-725C-ED0EF919B51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20" y="5461208"/>
            <a:ext cx="1080000" cy="1080000"/>
          </a:xfrm>
          <a:prstGeom prst="rect">
            <a:avLst/>
          </a:prstGeom>
        </p:spPr>
      </p:pic>
      <p:pic>
        <p:nvPicPr>
          <p:cNvPr id="24" name="Imagen 23" descr="Icono&#10;&#10;Descripción generada automáticamente">
            <a:extLst>
              <a:ext uri="{FF2B5EF4-FFF2-40B4-BE49-F238E27FC236}">
                <a16:creationId xmlns:a16="http://schemas.microsoft.com/office/drawing/2014/main" id="{35A5BE93-EBCE-3DC6-44F1-7E19C788C34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812" y="6711952"/>
            <a:ext cx="1080000" cy="1080000"/>
          </a:xfrm>
          <a:prstGeom prst="rect">
            <a:avLst/>
          </a:prstGeom>
        </p:spPr>
      </p:pic>
      <p:pic>
        <p:nvPicPr>
          <p:cNvPr id="26" name="Imagen 25" descr="Icono&#10;&#10;Descripción generada automáticamente">
            <a:extLst>
              <a:ext uri="{FF2B5EF4-FFF2-40B4-BE49-F238E27FC236}">
                <a16:creationId xmlns:a16="http://schemas.microsoft.com/office/drawing/2014/main" id="{4AF8D1D0-C44A-A7AE-A112-AA50DF0E0AB3}"/>
              </a:ext>
            </a:extLst>
          </p:cNvPr>
          <p:cNvPicPr preferRelativeResize="0">
            <a:picLocks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46" y="6711952"/>
            <a:ext cx="1080000" cy="1080000"/>
          </a:xfrm>
          <a:prstGeom prst="rect">
            <a:avLst/>
          </a:prstGeom>
        </p:spPr>
      </p:pic>
      <p:pic>
        <p:nvPicPr>
          <p:cNvPr id="28" name="Imagen 27" descr="Logotipo&#10;&#10;Descripción generada automáticamente">
            <a:extLst>
              <a:ext uri="{FF2B5EF4-FFF2-40B4-BE49-F238E27FC236}">
                <a16:creationId xmlns:a16="http://schemas.microsoft.com/office/drawing/2014/main" id="{DA060EC3-5E58-9A77-34AB-42547B25BF7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81" y="7963902"/>
            <a:ext cx="1080000" cy="1080000"/>
          </a:xfrm>
          <a:prstGeom prst="rect">
            <a:avLst/>
          </a:prstGeom>
        </p:spPr>
      </p:pic>
      <p:pic>
        <p:nvPicPr>
          <p:cNvPr id="30" name="Imagen 29" descr="Icono&#10;&#10;Descripción generada automáticamente">
            <a:extLst>
              <a:ext uri="{FF2B5EF4-FFF2-40B4-BE49-F238E27FC236}">
                <a16:creationId xmlns:a16="http://schemas.microsoft.com/office/drawing/2014/main" id="{30C93628-16AA-76B5-ED51-DEB6DF1A630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20" y="7963902"/>
            <a:ext cx="1080000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Picture 2" descr="d:\Documents and Settings\bazop\Escritorio\CV\CV\Photoshop CS2\Fondo 3.png"/>
          <p:cNvPicPr>
            <a:picLocks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>
            <a:spLocks/>
          </p:cNvSpPr>
          <p:nvPr userDrawn="1"/>
        </p:nvSpPr>
        <p:spPr>
          <a:xfrm>
            <a:off x="0" y="0"/>
            <a:ext cx="1916832" cy="9144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9" name="8 Rectángulo"/>
          <p:cNvSpPr>
            <a:spLocks/>
          </p:cNvSpPr>
          <p:nvPr userDrawn="1"/>
        </p:nvSpPr>
        <p:spPr>
          <a:xfrm>
            <a:off x="2420888" y="107504"/>
            <a:ext cx="4437112" cy="504056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01600" h="1016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atin typeface="Georgia" panose="02040502050405020303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6.jpeg"/><Relationship Id="rId26" Type="http://schemas.openxmlformats.org/officeDocument/2006/relationships/image" Target="../media/image34.png"/><Relationship Id="rId39" Type="http://schemas.openxmlformats.org/officeDocument/2006/relationships/image" Target="../media/image44.svg"/><Relationship Id="rId21" Type="http://schemas.openxmlformats.org/officeDocument/2006/relationships/image" Target="../media/image29.jpeg"/><Relationship Id="rId34" Type="http://schemas.openxmlformats.org/officeDocument/2006/relationships/image" Target="../media/image39.png"/><Relationship Id="rId42" Type="http://schemas.openxmlformats.org/officeDocument/2006/relationships/hyperlink" Target="https://sefaruniversal.com/" TargetMode="External"/><Relationship Id="rId47" Type="http://schemas.openxmlformats.org/officeDocument/2006/relationships/image" Target="../media/image49.jpeg"/><Relationship Id="rId50" Type="http://schemas.openxmlformats.org/officeDocument/2006/relationships/hyperlink" Target="http://www.ucv.ve/" TargetMode="External"/><Relationship Id="rId7" Type="http://schemas.openxmlformats.org/officeDocument/2006/relationships/image" Target="../media/image16.png"/><Relationship Id="rId2" Type="http://schemas.openxmlformats.org/officeDocument/2006/relationships/hyperlink" Target="https://cvpetrix.herokuapp.com/portafolio" TargetMode="External"/><Relationship Id="rId16" Type="http://schemas.openxmlformats.org/officeDocument/2006/relationships/image" Target="../media/image24.jpeg"/><Relationship Id="rId29" Type="http://schemas.openxmlformats.org/officeDocument/2006/relationships/hyperlink" Target="https://github.com/petrix12" TargetMode="External"/><Relationship Id="rId11" Type="http://schemas.openxmlformats.org/officeDocument/2006/relationships/hyperlink" Target="mailto:pedro.j.bazo.c@gmail.com" TargetMode="External"/><Relationship Id="rId24" Type="http://schemas.openxmlformats.org/officeDocument/2006/relationships/image" Target="../media/image32.png"/><Relationship Id="rId32" Type="http://schemas.openxmlformats.org/officeDocument/2006/relationships/image" Target="../media/image38.png"/><Relationship Id="rId37" Type="http://schemas.openxmlformats.org/officeDocument/2006/relationships/image" Target="../media/image42.svg"/><Relationship Id="rId40" Type="http://schemas.openxmlformats.org/officeDocument/2006/relationships/image" Target="../media/image45.png"/><Relationship Id="rId45" Type="http://schemas.openxmlformats.org/officeDocument/2006/relationships/image" Target="../media/image48.jpeg"/><Relationship Id="rId53" Type="http://schemas.openxmlformats.org/officeDocument/2006/relationships/image" Target="../media/image53.png"/><Relationship Id="rId5" Type="http://schemas.openxmlformats.org/officeDocument/2006/relationships/image" Target="../media/image15.jpeg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31" Type="http://schemas.openxmlformats.org/officeDocument/2006/relationships/hyperlink" Target="https://www.wattpad.com/story/311847783-la-furia-de-san-juli%C3%A1n" TargetMode="External"/><Relationship Id="rId44" Type="http://schemas.openxmlformats.org/officeDocument/2006/relationships/hyperlink" Target="http://www.pdvsa.com/" TargetMode="External"/><Relationship Id="rId52" Type="http://schemas.openxmlformats.org/officeDocument/2006/relationships/image" Target="../media/image52.png"/><Relationship Id="rId4" Type="http://schemas.openxmlformats.org/officeDocument/2006/relationships/hyperlink" Target="https://petrix12.github.io/cvpetrix2022" TargetMode="External"/><Relationship Id="rId9" Type="http://schemas.openxmlformats.org/officeDocument/2006/relationships/image" Target="../media/image18.png"/><Relationship Id="rId14" Type="http://schemas.openxmlformats.org/officeDocument/2006/relationships/image" Target="../media/image22.jpe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7.png"/><Relationship Id="rId35" Type="http://schemas.openxmlformats.org/officeDocument/2006/relationships/image" Target="../media/image40.png"/><Relationship Id="rId43" Type="http://schemas.openxmlformats.org/officeDocument/2006/relationships/image" Target="../media/image47.png"/><Relationship Id="rId48" Type="http://schemas.openxmlformats.org/officeDocument/2006/relationships/hyperlink" Target="https://www.eni.com/" TargetMode="External"/><Relationship Id="rId8" Type="http://schemas.openxmlformats.org/officeDocument/2006/relationships/image" Target="../media/image17.png"/><Relationship Id="rId51" Type="http://schemas.openxmlformats.org/officeDocument/2006/relationships/image" Target="../media/image51.png"/><Relationship Id="rId3" Type="http://schemas.openxmlformats.org/officeDocument/2006/relationships/image" Target="../media/image14.gif"/><Relationship Id="rId12" Type="http://schemas.openxmlformats.org/officeDocument/2006/relationships/image" Target="../media/image20.png"/><Relationship Id="rId17" Type="http://schemas.openxmlformats.org/officeDocument/2006/relationships/image" Target="../media/image25.jpeg"/><Relationship Id="rId25" Type="http://schemas.openxmlformats.org/officeDocument/2006/relationships/image" Target="../media/image33.png"/><Relationship Id="rId33" Type="http://schemas.openxmlformats.org/officeDocument/2006/relationships/hyperlink" Target="https://www.wattpad.com/story/311839391-el-tiempo-de-c%C3%A9sar-augusto-p%C3%A9rez-soler" TargetMode="External"/><Relationship Id="rId38" Type="http://schemas.openxmlformats.org/officeDocument/2006/relationships/image" Target="../media/image43.png"/><Relationship Id="rId46" Type="http://schemas.openxmlformats.org/officeDocument/2006/relationships/hyperlink" Target="https://ugmavirtual.org/" TargetMode="External"/><Relationship Id="rId20" Type="http://schemas.openxmlformats.org/officeDocument/2006/relationships/image" Target="../media/image28.png"/><Relationship Id="rId41" Type="http://schemas.openxmlformats.org/officeDocument/2006/relationships/image" Target="../media/image46.png"/><Relationship Id="rId54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pedro-bazo/" TargetMode="External"/><Relationship Id="rId15" Type="http://schemas.openxmlformats.org/officeDocument/2006/relationships/image" Target="../media/image23.jpe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1.png"/><Relationship Id="rId4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>
            <a:hlinkClick r:id="rId2"/>
          </p:cNvPr>
          <p:cNvSpPr/>
          <p:nvPr/>
        </p:nvSpPr>
        <p:spPr>
          <a:xfrm>
            <a:off x="0" y="148692"/>
            <a:ext cx="191683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s-ES" sz="800" b="1" cap="none" spc="150" dirty="0">
                <a:ln w="1143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Ingeniero de Software Full-</a:t>
            </a:r>
            <a:r>
              <a:rPr lang="es-ES" sz="800" b="1" cap="none" spc="150" dirty="0" err="1">
                <a:ln w="1143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Stack</a:t>
            </a:r>
            <a:endParaRPr lang="es-ES" sz="800" b="1" cap="none" spc="150" dirty="0">
              <a:ln w="1143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s-ES" sz="800" b="1" cap="none" spc="150" dirty="0">
                <a:ln w="1143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Desarrollo Web, Datos &amp; Automatización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2420888" y="154112"/>
            <a:ext cx="441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Ing. Pedro Jesús Bazó Canelón</a:t>
            </a:r>
          </a:p>
        </p:txBody>
      </p:sp>
      <p:cxnSp>
        <p:nvCxnSpPr>
          <p:cNvPr id="14" name="13 Conector recto"/>
          <p:cNvCxnSpPr/>
          <p:nvPr/>
        </p:nvCxnSpPr>
        <p:spPr>
          <a:xfrm>
            <a:off x="101010" y="803680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100800" y="2592538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 descr="d:\Documents and Settings\bazop\Escritorio\CV\Iconos\linkedin-icon-gif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5" y="2051720"/>
            <a:ext cx="288000" cy="288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27000" h="50800" prst="softRound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:\Petrix\Proyectos Propios\2019 Soluciones Office\Imagenes\Autor\Pedro Bazó 03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063" y="1105469"/>
            <a:ext cx="1188000" cy="1188000"/>
          </a:xfrm>
          <a:prstGeom prst="flowChartConnector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14 CuadroTexto"/>
          <p:cNvSpPr txBox="1"/>
          <p:nvPr/>
        </p:nvSpPr>
        <p:spPr>
          <a:xfrm>
            <a:off x="391276" y="2089033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1000" b="1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pedro-bazo</a:t>
            </a:r>
            <a:endParaRPr lang="es-VE" sz="1000" b="1" dirty="0">
              <a:solidFill>
                <a:schemeClr val="bg1"/>
              </a:solidFill>
            </a:endParaRPr>
          </a:p>
        </p:txBody>
      </p:sp>
      <p:cxnSp>
        <p:nvCxnSpPr>
          <p:cNvPr id="17" name="16 Conector recto"/>
          <p:cNvCxnSpPr/>
          <p:nvPr/>
        </p:nvCxnSpPr>
        <p:spPr>
          <a:xfrm>
            <a:off x="100800" y="4387432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100800" y="7398536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100800" y="8504084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CuadroTexto"/>
          <p:cNvSpPr txBox="1"/>
          <p:nvPr/>
        </p:nvSpPr>
        <p:spPr>
          <a:xfrm>
            <a:off x="100798" y="2624393"/>
            <a:ext cx="1674753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50" b="1" dirty="0">
                <a:solidFill>
                  <a:schemeClr val="bg1"/>
                </a:solidFill>
              </a:rPr>
              <a:t>Desarrollador Full-</a:t>
            </a:r>
            <a:r>
              <a:rPr lang="es-ES" sz="750" b="1" dirty="0" err="1">
                <a:solidFill>
                  <a:schemeClr val="bg1"/>
                </a:solidFill>
              </a:rPr>
              <a:t>Stack</a:t>
            </a:r>
            <a:r>
              <a:rPr lang="es-ES" sz="750" b="1" dirty="0">
                <a:solidFill>
                  <a:schemeClr val="bg1"/>
                </a:solidFill>
              </a:rPr>
              <a:t> enfocado en la entrega de valor. Experto en Laravel, Vue.js, PHP y bases de datos (MySQL/NoSQL), con sólidos conocimientos en React.js y AWS. Con experiencia adicional en Lazarus/Delphi y Excel avanzado para la automatización de procesos. Capaz de liderar soluciones técnicas innovadoras y adaptables a las necesidades del negocio.</a:t>
            </a:r>
            <a:endParaRPr lang="es-VE" sz="750" b="1" dirty="0">
              <a:solidFill>
                <a:schemeClr val="bg1"/>
              </a:solidFill>
            </a:endParaRPr>
          </a:p>
        </p:txBody>
      </p:sp>
      <p:sp>
        <p:nvSpPr>
          <p:cNvPr id="23" name="22 CuadroTexto">
            <a:hlinkClick r:id="rId4"/>
          </p:cNvPr>
          <p:cNvSpPr txBox="1"/>
          <p:nvPr/>
        </p:nvSpPr>
        <p:spPr>
          <a:xfrm>
            <a:off x="324273" y="4106706"/>
            <a:ext cx="16757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700" b="1" dirty="0">
                <a:solidFill>
                  <a:schemeClr val="tx2">
                    <a:lumMod val="50000"/>
                  </a:schemeClr>
                </a:solidFill>
              </a:rPr>
              <a:t>https://petrix12.github.io/cvpetrix2022</a:t>
            </a:r>
          </a:p>
        </p:txBody>
      </p:sp>
      <p:cxnSp>
        <p:nvCxnSpPr>
          <p:cNvPr id="24" name="23 Conector recto"/>
          <p:cNvCxnSpPr/>
          <p:nvPr/>
        </p:nvCxnSpPr>
        <p:spPr>
          <a:xfrm>
            <a:off x="100800" y="3995987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 descr="F:\Petrix\Proyectos Propios\2019 Soluciones Office\Imagenes\Logos\icono_excel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27" y="5986766"/>
            <a:ext cx="360000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29 CuadroTexto"/>
          <p:cNvSpPr txBox="1"/>
          <p:nvPr/>
        </p:nvSpPr>
        <p:spPr>
          <a:xfrm>
            <a:off x="44624" y="693897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600" b="1" dirty="0">
                <a:solidFill>
                  <a:schemeClr val="bg1"/>
                </a:solidFill>
              </a:rPr>
              <a:t>NOTA: Rápido aprendizaje y adaptabilidad para dominar nuevas tecnologías según las necesidades del proyecto.</a:t>
            </a:r>
          </a:p>
        </p:txBody>
      </p:sp>
      <p:pic>
        <p:nvPicPr>
          <p:cNvPr id="10" name="Picture 3" descr="F:\Petrix\Proyectos Propios\2019 Soluciones Office\Imagenes\Iconos\home.png"/>
          <p:cNvPicPr preferRelativeResize="0">
            <a:picLocks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3" t="14017" r="15139" b="16126"/>
          <a:stretch/>
        </p:blipFill>
        <p:spPr bwMode="auto">
          <a:xfrm>
            <a:off x="79200" y="7487362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F:\Petrix\Proyectos Propios\2019 Soluciones Office\Imagenes\Iconos\phone-icon.pn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1" t="13782" r="14703" b="16470"/>
          <a:stretch/>
        </p:blipFill>
        <p:spPr bwMode="auto">
          <a:xfrm>
            <a:off x="79200" y="7807198"/>
            <a:ext cx="29001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5" descr="F:\Petrix\Proyectos Propios\2019 Soluciones Office\Imagenes\Iconos\Email-icon-square.png"/>
          <p:cNvPicPr preferRelativeResize="0">
            <a:picLocks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2" t="13866" r="15211" b="16481"/>
          <a:stretch/>
        </p:blipFill>
        <p:spPr bwMode="auto">
          <a:xfrm>
            <a:off x="79200" y="8134410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88 CuadroTexto"/>
          <p:cNvSpPr txBox="1"/>
          <p:nvPr/>
        </p:nvSpPr>
        <p:spPr>
          <a:xfrm>
            <a:off x="332656" y="7488386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600" b="1" dirty="0">
                <a:solidFill>
                  <a:schemeClr val="bg1"/>
                </a:solidFill>
              </a:rPr>
              <a:t>Calle La </a:t>
            </a:r>
            <a:r>
              <a:rPr lang="es-VE" sz="600" b="1" dirty="0" err="1">
                <a:solidFill>
                  <a:schemeClr val="bg1"/>
                </a:solidFill>
              </a:rPr>
              <a:t>Manccha</a:t>
            </a:r>
            <a:r>
              <a:rPr lang="es-VE" sz="600" b="1" dirty="0">
                <a:solidFill>
                  <a:schemeClr val="bg1"/>
                </a:solidFill>
              </a:rPr>
              <a:t>. </a:t>
            </a:r>
            <a:r>
              <a:rPr lang="es-VE" sz="600" b="1" dirty="0" err="1">
                <a:solidFill>
                  <a:schemeClr val="bg1"/>
                </a:solidFill>
              </a:rPr>
              <a:t>Nº</a:t>
            </a:r>
            <a:r>
              <a:rPr lang="es-VE" sz="600" b="1" dirty="0">
                <a:solidFill>
                  <a:schemeClr val="bg1"/>
                </a:solidFill>
              </a:rPr>
              <a:t> 6. Gijón. Asturias. España. C.P. 33210.</a:t>
            </a:r>
          </a:p>
        </p:txBody>
      </p:sp>
      <p:sp>
        <p:nvSpPr>
          <p:cNvPr id="90" name="89 CuadroTexto"/>
          <p:cNvSpPr txBox="1"/>
          <p:nvPr/>
        </p:nvSpPr>
        <p:spPr>
          <a:xfrm>
            <a:off x="331200" y="7831259"/>
            <a:ext cx="1444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800" b="1" dirty="0">
                <a:solidFill>
                  <a:schemeClr val="bg1"/>
                </a:solidFill>
              </a:rPr>
              <a:t>+34 613 98 00 99</a:t>
            </a:r>
          </a:p>
        </p:txBody>
      </p:sp>
      <p:sp>
        <p:nvSpPr>
          <p:cNvPr id="91" name="90 CuadroTexto">
            <a:hlinkClick r:id="rId11"/>
          </p:cNvPr>
          <p:cNvSpPr txBox="1"/>
          <p:nvPr/>
        </p:nvSpPr>
        <p:spPr>
          <a:xfrm>
            <a:off x="332656" y="8159287"/>
            <a:ext cx="1444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800" b="1" dirty="0">
                <a:solidFill>
                  <a:schemeClr val="bg1"/>
                </a:solidFill>
              </a:rPr>
              <a:t>pedro.j.bazo.c@gmail.com</a:t>
            </a:r>
          </a:p>
        </p:txBody>
      </p:sp>
      <p:sp>
        <p:nvSpPr>
          <p:cNvPr id="92" name="91 CuadroTexto"/>
          <p:cNvSpPr txBox="1"/>
          <p:nvPr/>
        </p:nvSpPr>
        <p:spPr>
          <a:xfrm>
            <a:off x="144339" y="8476508"/>
            <a:ext cx="833223" cy="223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800" b="1" dirty="0">
                <a:solidFill>
                  <a:schemeClr val="bg1"/>
                </a:solidFill>
              </a:rPr>
              <a:t>Hobbies</a:t>
            </a:r>
          </a:p>
        </p:txBody>
      </p:sp>
      <p:pic>
        <p:nvPicPr>
          <p:cNvPr id="8" name="Picture 2" descr="d:\Documents and Settings\bazop\Escritorio\CV\Iconos\iconmonstr-book-17-240.png"/>
          <p:cNvPicPr preferRelativeResize="0">
            <a:picLocks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6" b="11922"/>
          <a:stretch/>
        </p:blipFill>
        <p:spPr bwMode="auto">
          <a:xfrm>
            <a:off x="83346" y="869401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d:\Documents and Settings\bazop\Escritorio\CV\Iconos\video-icon-29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63" y="869401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96 CuadroTexto"/>
          <p:cNvSpPr txBox="1"/>
          <p:nvPr/>
        </p:nvSpPr>
        <p:spPr>
          <a:xfrm>
            <a:off x="4446114" y="643089"/>
            <a:ext cx="2410695" cy="230832"/>
          </a:xfrm>
          <a:prstGeom prst="rect">
            <a:avLst/>
          </a:prstGeom>
          <a:gradFill flip="none" rotWithShape="1">
            <a:gsLst>
              <a:gs pos="0">
                <a:srgbClr val="990000"/>
              </a:gs>
              <a:gs pos="50000">
                <a:srgbClr val="990000"/>
              </a:gs>
              <a:gs pos="100000">
                <a:srgbClr val="FF0000"/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50800" h="50800" prst="riblet"/>
          </a:sp3d>
        </p:spPr>
        <p:txBody>
          <a:bodyPr wrap="square" rtlCol="0">
            <a:spAutoFit/>
          </a:bodyPr>
          <a:lstStyle/>
          <a:p>
            <a:pPr algn="r"/>
            <a:r>
              <a:rPr lang="es-VE" sz="900" b="1" dirty="0">
                <a:solidFill>
                  <a:schemeClr val="bg1"/>
                </a:solidFill>
                <a:latin typeface="Arial Black" panose="020B0A04020102020204" pitchFamily="34" charset="0"/>
              </a:rPr>
              <a:t>EXPERIENCIA LABORAL</a:t>
            </a:r>
          </a:p>
        </p:txBody>
      </p:sp>
      <p:sp>
        <p:nvSpPr>
          <p:cNvPr id="98" name="97 CuadroTexto"/>
          <p:cNvSpPr txBox="1"/>
          <p:nvPr/>
        </p:nvSpPr>
        <p:spPr>
          <a:xfrm>
            <a:off x="4445249" y="5375754"/>
            <a:ext cx="2410695" cy="230832"/>
          </a:xfrm>
          <a:prstGeom prst="rect">
            <a:avLst/>
          </a:prstGeom>
          <a:gradFill flip="none" rotWithShape="1">
            <a:gsLst>
              <a:gs pos="0">
                <a:srgbClr val="990000"/>
              </a:gs>
              <a:gs pos="50000">
                <a:srgbClr val="990000"/>
              </a:gs>
              <a:gs pos="100000">
                <a:srgbClr val="FF0000"/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50800" h="50800" prst="riblet"/>
          </a:sp3d>
        </p:spPr>
        <p:txBody>
          <a:bodyPr wrap="square" rtlCol="0">
            <a:spAutoFit/>
          </a:bodyPr>
          <a:lstStyle>
            <a:defPPr>
              <a:defRPr lang="es-ES"/>
            </a:defPPr>
            <a:lvl1pPr algn="r">
              <a:defRPr sz="9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VE" dirty="0"/>
              <a:t>FORMACIÓN ACADEMICA</a:t>
            </a:r>
          </a:p>
        </p:txBody>
      </p:sp>
      <p:sp>
        <p:nvSpPr>
          <p:cNvPr id="99" name="98 CuadroTexto"/>
          <p:cNvSpPr txBox="1"/>
          <p:nvPr/>
        </p:nvSpPr>
        <p:spPr>
          <a:xfrm>
            <a:off x="4445249" y="6789440"/>
            <a:ext cx="2410695" cy="230832"/>
          </a:xfrm>
          <a:prstGeom prst="rect">
            <a:avLst/>
          </a:prstGeom>
          <a:gradFill flip="none" rotWithShape="1">
            <a:gsLst>
              <a:gs pos="0">
                <a:srgbClr val="990000"/>
              </a:gs>
              <a:gs pos="50000">
                <a:srgbClr val="990000"/>
              </a:gs>
              <a:gs pos="100000">
                <a:srgbClr val="FF0000"/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50800" h="50800" prst="riblet"/>
          </a:sp3d>
        </p:spPr>
        <p:txBody>
          <a:bodyPr wrap="square" rtlCol="0">
            <a:spAutoFit/>
          </a:bodyPr>
          <a:lstStyle>
            <a:defPPr>
              <a:defRPr lang="es-ES"/>
            </a:defPPr>
            <a:lvl1pPr algn="r">
              <a:defRPr sz="9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VE" dirty="0"/>
              <a:t>CURSOS</a:t>
            </a:r>
          </a:p>
        </p:txBody>
      </p:sp>
      <p:pic>
        <p:nvPicPr>
          <p:cNvPr id="169" name="168 Imagen"/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5673888"/>
            <a:ext cx="180975" cy="1809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pic>
        <p:nvPicPr>
          <p:cNvPr id="170" name="169 Imagen"/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5910633"/>
            <a:ext cx="180975" cy="1809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pic>
        <p:nvPicPr>
          <p:cNvPr id="32" name="Picture 2" descr="d:\Documents and Settings\bazop\Escritorio\CV\Iconos\Empresas\images.jpg"/>
          <p:cNvPicPr preferRelativeResize="0">
            <a:picLocks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6147378"/>
            <a:ext cx="180000" cy="18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" descr="d:\Documents and Settings\bazop\Escritorio\CV\Iconos\Empresas\Escudo.jpg"/>
          <p:cNvPicPr preferRelativeResize="0">
            <a:picLocks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6383148"/>
            <a:ext cx="180000" cy="18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5" descr="d:\Documents and Settings\bazop\Escritorio\CV\Iconos\Empresas\escudo-guardia-nacional-250x300.jpg"/>
          <p:cNvPicPr preferRelativeResize="0">
            <a:picLocks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2" b="7771"/>
          <a:stretch/>
        </p:blipFill>
        <p:spPr bwMode="auto">
          <a:xfrm>
            <a:off x="1988840" y="6618918"/>
            <a:ext cx="180000" cy="18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" name="186 CuadroTexto"/>
          <p:cNvSpPr txBox="1"/>
          <p:nvPr/>
        </p:nvSpPr>
        <p:spPr>
          <a:xfrm>
            <a:off x="2134800" y="5610694"/>
            <a:ext cx="4733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2002. ESCUELA DE INGENIERÍA QUÍMICA.</a:t>
            </a:r>
            <a:r>
              <a:rPr lang="es-ES" dirty="0"/>
              <a:t> Universidad Central de Venezuela. Ciudad Universitaria. Caracas. Logro: Título de Ingeniero Químico.</a:t>
            </a:r>
          </a:p>
        </p:txBody>
      </p:sp>
      <p:sp>
        <p:nvSpPr>
          <p:cNvPr id="188" name="187 CuadroTexto"/>
          <p:cNvSpPr txBox="1"/>
          <p:nvPr/>
        </p:nvSpPr>
        <p:spPr>
          <a:xfrm>
            <a:off x="2134800" y="5854481"/>
            <a:ext cx="47330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1992. ESCUELA DE AVIACIÓN MILITAR.</a:t>
            </a:r>
            <a:r>
              <a:rPr lang="es-ES" dirty="0"/>
              <a:t> Maracay. Estado Aragua. Logro: Servicio Militar Obligatorio.</a:t>
            </a:r>
          </a:p>
        </p:txBody>
      </p:sp>
      <p:sp>
        <p:nvSpPr>
          <p:cNvPr id="189" name="188 CuadroTexto"/>
          <p:cNvSpPr txBox="1"/>
          <p:nvPr/>
        </p:nvSpPr>
        <p:spPr>
          <a:xfrm>
            <a:off x="2134800" y="6074995"/>
            <a:ext cx="4733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1991. ESCUELA BÁSICA DE LAS FUERZAS ARMADAS NACIONALES.</a:t>
            </a:r>
            <a:r>
              <a:rPr lang="es-ES" dirty="0"/>
              <a:t> Maracay. Estado Aragua. Logro: Culminación del ciclo básico como cadete de las FF.AA.NN.</a:t>
            </a:r>
          </a:p>
        </p:txBody>
      </p:sp>
      <p:sp>
        <p:nvSpPr>
          <p:cNvPr id="190" name="189 CuadroTexto"/>
          <p:cNvSpPr txBox="1"/>
          <p:nvPr/>
        </p:nvSpPr>
        <p:spPr>
          <a:xfrm>
            <a:off x="2134800" y="6318782"/>
            <a:ext cx="47330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1990. COLEGIO SAN VICENTE DE PAÚL.</a:t>
            </a:r>
            <a:r>
              <a:rPr lang="es-ES" dirty="0"/>
              <a:t> Maiquetía. Estado Vargas. Logro: Titulo de Bachiller en Ciencias.</a:t>
            </a:r>
          </a:p>
        </p:txBody>
      </p:sp>
      <p:sp>
        <p:nvSpPr>
          <p:cNvPr id="191" name="190 CuadroTexto"/>
          <p:cNvSpPr txBox="1"/>
          <p:nvPr/>
        </p:nvSpPr>
        <p:spPr>
          <a:xfrm>
            <a:off x="2134800" y="6546349"/>
            <a:ext cx="4733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1987. LICEO MILITAR G.N. CAP.(F) PEDRO MARÍA OCHOA MORALES.</a:t>
            </a:r>
            <a:r>
              <a:rPr lang="es-ES" dirty="0"/>
              <a:t> Ramo Verde. Estado Miranda. Logro: Aprobación del 1ro y 2do año del Ciclo Básico.</a:t>
            </a:r>
            <a:endParaRPr lang="es-VE" dirty="0"/>
          </a:p>
        </p:txBody>
      </p:sp>
      <p:sp>
        <p:nvSpPr>
          <p:cNvPr id="192" name="191 CuadroTexto"/>
          <p:cNvSpPr txBox="1"/>
          <p:nvPr/>
        </p:nvSpPr>
        <p:spPr>
          <a:xfrm>
            <a:off x="2038696" y="7004627"/>
            <a:ext cx="473309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Curso práctico de Docker y Microservicios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NOV-2022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Node: De cero a experto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Aprende a generar reportes con Laravel-Excel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Codersfree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MEAN Stack: Master NodeJS y Angular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Aprende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Vue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3 desde cero +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inertia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Codersfree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OCT-2021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CRUD con Laravel, Sweetalert2,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Toastr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Vuejs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y Axios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OCT-2021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Crea tus aplicaciones con Laravel y MongoDB.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Pasarela de pagos con Laravel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Cashier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Stripe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Desarrollo de una API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RESTful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 Laravel.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Instalar Laravel 8 en AWS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Desarrollo web HTML, CSS, JavaScript, jQuery, Python y Django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Plataforma de cursos con Laravel.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AGO-2020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SQL esencial.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Linkedin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Diseño de base de datos relacionales.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Linkedin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Desarrollador Back-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Capacítate para el trabajo.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Desarrollador Front-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Capacítate para el trabajo.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Desarrollo de Apps Móviles.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Google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MAY-2020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Curador de datos.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Capacítate para el trabajo.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MAY-2020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Introducción al Desarrollo Web.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Google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161" name="160 CuadroTexto"/>
          <p:cNvSpPr txBox="1"/>
          <p:nvPr/>
        </p:nvSpPr>
        <p:spPr>
          <a:xfrm>
            <a:off x="100800" y="3985776"/>
            <a:ext cx="1707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800" b="1" dirty="0">
                <a:solidFill>
                  <a:schemeClr val="tx2"/>
                </a:solidFill>
              </a:rPr>
              <a:t>Mi portafolio online</a:t>
            </a:r>
          </a:p>
        </p:txBody>
      </p:sp>
      <p:sp>
        <p:nvSpPr>
          <p:cNvPr id="100" name="99 CuadroTexto"/>
          <p:cNvSpPr txBox="1"/>
          <p:nvPr/>
        </p:nvSpPr>
        <p:spPr>
          <a:xfrm>
            <a:off x="5539170" y="8811180"/>
            <a:ext cx="133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VE" sz="600" b="1" dirty="0">
                <a:solidFill>
                  <a:schemeClr val="bg1">
                    <a:lumMod val="50000"/>
                  </a:schemeClr>
                </a:solidFill>
              </a:rPr>
              <a:t>Estado Civil:</a:t>
            </a:r>
            <a:r>
              <a:rPr lang="es-VE" sz="600" dirty="0">
                <a:solidFill>
                  <a:schemeClr val="bg1">
                    <a:lumMod val="50000"/>
                  </a:schemeClr>
                </a:solidFill>
              </a:rPr>
              <a:t> Casado.  </a:t>
            </a:r>
          </a:p>
          <a:p>
            <a:pPr algn="r"/>
            <a:r>
              <a:rPr lang="es-VE" sz="600" b="1" dirty="0">
                <a:solidFill>
                  <a:schemeClr val="bg1">
                    <a:lumMod val="50000"/>
                  </a:schemeClr>
                </a:solidFill>
              </a:rPr>
              <a:t>Fecha de Nacimiento:</a:t>
            </a:r>
            <a:r>
              <a:rPr lang="es-VE" sz="600" dirty="0">
                <a:solidFill>
                  <a:schemeClr val="bg1">
                    <a:lumMod val="50000"/>
                  </a:schemeClr>
                </a:solidFill>
              </a:rPr>
              <a:t> 12-01-1972. </a:t>
            </a:r>
          </a:p>
          <a:p>
            <a:pPr algn="r"/>
            <a:r>
              <a:rPr lang="es-VE" sz="600" b="1" dirty="0">
                <a:solidFill>
                  <a:schemeClr val="bg1">
                    <a:lumMod val="50000"/>
                  </a:schemeClr>
                </a:solidFill>
              </a:rPr>
              <a:t>Nacionalidad:</a:t>
            </a:r>
            <a:r>
              <a:rPr lang="es-VE" sz="600" dirty="0">
                <a:solidFill>
                  <a:schemeClr val="bg1">
                    <a:lumMod val="50000"/>
                  </a:schemeClr>
                </a:solidFill>
              </a:rPr>
              <a:t> Venezolana.</a:t>
            </a:r>
          </a:p>
        </p:txBody>
      </p:sp>
      <p:pic>
        <p:nvPicPr>
          <p:cNvPr id="42" name="Imagen 41" descr="Icono&#10;&#10;Descripción generada automáticamente">
            <a:extLst>
              <a:ext uri="{FF2B5EF4-FFF2-40B4-BE49-F238E27FC236}">
                <a16:creationId xmlns:a16="http://schemas.microsoft.com/office/drawing/2014/main" id="{8550F731-1777-426D-A471-4F6790A127C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599180"/>
            <a:ext cx="72000" cy="72000"/>
          </a:xfrm>
          <a:prstGeom prst="rect">
            <a:avLst/>
          </a:prstGeom>
        </p:spPr>
      </p:pic>
      <p:pic>
        <p:nvPicPr>
          <p:cNvPr id="165" name="Imagen 164" descr="Icono&#10;&#10;Descripción generada automáticamente">
            <a:extLst>
              <a:ext uri="{FF2B5EF4-FFF2-40B4-BE49-F238E27FC236}">
                <a16:creationId xmlns:a16="http://schemas.microsoft.com/office/drawing/2014/main" id="{ECB6430B-966B-4C77-8ECA-E347D11794D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706322"/>
            <a:ext cx="72000" cy="72000"/>
          </a:xfrm>
          <a:prstGeom prst="rect">
            <a:avLst/>
          </a:prstGeom>
        </p:spPr>
      </p:pic>
      <p:pic>
        <p:nvPicPr>
          <p:cNvPr id="167" name="Imagen 166" descr="Icono&#10;&#10;Descripción generada automáticamente">
            <a:extLst>
              <a:ext uri="{FF2B5EF4-FFF2-40B4-BE49-F238E27FC236}">
                <a16:creationId xmlns:a16="http://schemas.microsoft.com/office/drawing/2014/main" id="{324CCBEA-119C-4B3E-9876-5F287E4EE95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813464"/>
            <a:ext cx="72000" cy="72000"/>
          </a:xfrm>
          <a:prstGeom prst="rect">
            <a:avLst/>
          </a:prstGeom>
        </p:spPr>
      </p:pic>
      <p:pic>
        <p:nvPicPr>
          <p:cNvPr id="171" name="Imagen 170" descr="Icono&#10;&#10;Descripción generada automáticamente">
            <a:extLst>
              <a:ext uri="{FF2B5EF4-FFF2-40B4-BE49-F238E27FC236}">
                <a16:creationId xmlns:a16="http://schemas.microsoft.com/office/drawing/2014/main" id="{4EE2AA5F-9CC0-4472-B71A-A3F5C547F0C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920606"/>
            <a:ext cx="72000" cy="72000"/>
          </a:xfrm>
          <a:prstGeom prst="rect">
            <a:avLst/>
          </a:prstGeom>
        </p:spPr>
      </p:pic>
      <p:pic>
        <p:nvPicPr>
          <p:cNvPr id="172" name="Imagen 171" descr="Icono&#10;&#10;Descripción generada automáticamente">
            <a:extLst>
              <a:ext uri="{FF2B5EF4-FFF2-40B4-BE49-F238E27FC236}">
                <a16:creationId xmlns:a16="http://schemas.microsoft.com/office/drawing/2014/main" id="{58220310-F817-4A92-B0CF-5C81C804A63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027748"/>
            <a:ext cx="72000" cy="72000"/>
          </a:xfrm>
          <a:prstGeom prst="rect">
            <a:avLst/>
          </a:prstGeom>
        </p:spPr>
      </p:pic>
      <p:pic>
        <p:nvPicPr>
          <p:cNvPr id="173" name="Imagen 172" descr="Icono&#10;&#10;Descripción generada automáticamente">
            <a:extLst>
              <a:ext uri="{FF2B5EF4-FFF2-40B4-BE49-F238E27FC236}">
                <a16:creationId xmlns:a16="http://schemas.microsoft.com/office/drawing/2014/main" id="{D820E3FC-70F6-482C-A7E8-93FAAEBAEDE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134890"/>
            <a:ext cx="72000" cy="72000"/>
          </a:xfrm>
          <a:prstGeom prst="rect">
            <a:avLst/>
          </a:prstGeom>
        </p:spPr>
      </p:pic>
      <p:pic>
        <p:nvPicPr>
          <p:cNvPr id="193" name="Imagen 192" descr="Icono&#10;&#10;Descripción generada automáticamente">
            <a:extLst>
              <a:ext uri="{FF2B5EF4-FFF2-40B4-BE49-F238E27FC236}">
                <a16:creationId xmlns:a16="http://schemas.microsoft.com/office/drawing/2014/main" id="{D6BE6677-D9E2-4B0F-A902-9C340B5557DC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242032"/>
            <a:ext cx="72000" cy="72000"/>
          </a:xfrm>
          <a:prstGeom prst="rect">
            <a:avLst/>
          </a:prstGeom>
        </p:spPr>
      </p:pic>
      <p:pic>
        <p:nvPicPr>
          <p:cNvPr id="44" name="Imagen 43" descr="Un dibujo animado con letras&#10;&#10;Descripción generada automáticamente con confianza media">
            <a:extLst>
              <a:ext uri="{FF2B5EF4-FFF2-40B4-BE49-F238E27FC236}">
                <a16:creationId xmlns:a16="http://schemas.microsoft.com/office/drawing/2014/main" id="{8F1DD687-29A3-4596-949B-C53DD33E32ED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349174"/>
            <a:ext cx="72000" cy="72000"/>
          </a:xfrm>
          <a:prstGeom prst="rect">
            <a:avLst/>
          </a:prstGeom>
        </p:spPr>
      </p:pic>
      <p:pic>
        <p:nvPicPr>
          <p:cNvPr id="194" name="Imagen 193" descr="Un dibujo animado con letras&#10;&#10;Descripción generada automáticamente con confianza media">
            <a:extLst>
              <a:ext uri="{FF2B5EF4-FFF2-40B4-BE49-F238E27FC236}">
                <a16:creationId xmlns:a16="http://schemas.microsoft.com/office/drawing/2014/main" id="{60CCD860-2496-40A5-8842-09C0F84C95D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456316"/>
            <a:ext cx="72000" cy="72000"/>
          </a:xfrm>
          <a:prstGeom prst="rect">
            <a:avLst/>
          </a:prstGeom>
        </p:spPr>
      </p:pic>
      <p:pic>
        <p:nvPicPr>
          <p:cNvPr id="46" name="Imagen 45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8DDE7BBE-FF80-45C0-807D-34198D7BD72F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563458"/>
            <a:ext cx="72000" cy="72000"/>
          </a:xfrm>
          <a:prstGeom prst="rect">
            <a:avLst/>
          </a:prstGeom>
        </p:spPr>
      </p:pic>
      <p:pic>
        <p:nvPicPr>
          <p:cNvPr id="195" name="Imagen 194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497D444A-AA15-4073-A0BC-496D08896606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670600"/>
            <a:ext cx="72000" cy="72000"/>
          </a:xfrm>
          <a:prstGeom prst="rect">
            <a:avLst/>
          </a:prstGeom>
        </p:spPr>
      </p:pic>
      <p:pic>
        <p:nvPicPr>
          <p:cNvPr id="196" name="Imagen 195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147BE39B-31FD-4C03-AAF8-0CD8E1535947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884884"/>
            <a:ext cx="72000" cy="72000"/>
          </a:xfrm>
          <a:prstGeom prst="rect">
            <a:avLst/>
          </a:prstGeom>
        </p:spPr>
      </p:pic>
      <p:pic>
        <p:nvPicPr>
          <p:cNvPr id="48" name="Imagen 47" descr="Icono&#10;&#10;Descripción generada automáticamente">
            <a:extLst>
              <a:ext uri="{FF2B5EF4-FFF2-40B4-BE49-F238E27FC236}">
                <a16:creationId xmlns:a16="http://schemas.microsoft.com/office/drawing/2014/main" id="{9C0F1F5B-AEA1-4C88-8D08-5FC5B6ABCB00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777742"/>
            <a:ext cx="70650" cy="72000"/>
          </a:xfrm>
          <a:prstGeom prst="rect">
            <a:avLst/>
          </a:prstGeom>
        </p:spPr>
      </p:pic>
      <p:pic>
        <p:nvPicPr>
          <p:cNvPr id="197" name="Imagen 196" descr="Icono&#10;&#10;Descripción generada automáticamente">
            <a:extLst>
              <a:ext uri="{FF2B5EF4-FFF2-40B4-BE49-F238E27FC236}">
                <a16:creationId xmlns:a16="http://schemas.microsoft.com/office/drawing/2014/main" id="{75C821D4-DB33-41CC-9F9D-992CFF8AC58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992022"/>
            <a:ext cx="70650" cy="72000"/>
          </a:xfrm>
          <a:prstGeom prst="rect">
            <a:avLst/>
          </a:prstGeom>
        </p:spPr>
      </p:pic>
      <p:pic>
        <p:nvPicPr>
          <p:cNvPr id="51" name="Imagen 50">
            <a:hlinkClick r:id="rId2"/>
            <a:extLst>
              <a:ext uri="{FF2B5EF4-FFF2-40B4-BE49-F238E27FC236}">
                <a16:creationId xmlns:a16="http://schemas.microsoft.com/office/drawing/2014/main" id="{BB900491-62AC-4387-8B8E-B5247BBEDFD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924" y="4051498"/>
            <a:ext cx="288000" cy="288000"/>
          </a:xfrm>
          <a:prstGeom prst="flowChartConnector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98" name="160 CuadroTexto">
            <a:extLst>
              <a:ext uri="{FF2B5EF4-FFF2-40B4-BE49-F238E27FC236}">
                <a16:creationId xmlns:a16="http://schemas.microsoft.com/office/drawing/2014/main" id="{4E1F7F9F-437C-4CF5-B08C-F67996D08130}"/>
              </a:ext>
            </a:extLst>
          </p:cNvPr>
          <p:cNvSpPr txBox="1"/>
          <p:nvPr/>
        </p:nvSpPr>
        <p:spPr>
          <a:xfrm>
            <a:off x="114338" y="4518194"/>
            <a:ext cx="171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900" b="1" dirty="0">
                <a:solidFill>
                  <a:schemeClr val="tx2"/>
                </a:solidFill>
              </a:rPr>
              <a:t>Principales tecnologías con las que he trabajado</a:t>
            </a: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DE89B472-A203-458B-920E-EE99A92CCB96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4" y="493204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34F03F1C-5E18-4831-87FE-2D9ADFF5B665}"/>
              </a:ext>
            </a:extLst>
          </p:cNvPr>
          <p:cNvPicPr preferRelativeResize="0">
            <a:picLocks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4" y="5453087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92BCEBFC-3226-449C-B0C8-067E07B844E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226" y="493204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Imagen 68" descr="Icono&#10;&#10;Descripción generada automáticamente">
            <a:extLst>
              <a:ext uri="{FF2B5EF4-FFF2-40B4-BE49-F238E27FC236}">
                <a16:creationId xmlns:a16="http://schemas.microsoft.com/office/drawing/2014/main" id="{CCC95ACE-9207-48AA-8237-D5B583D3726B}"/>
              </a:ext>
            </a:extLst>
          </p:cNvPr>
          <p:cNvPicPr preferRelativeResize="0">
            <a:picLocks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27" y="493204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64685FE-5947-4C62-88BA-E048FF447A8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255" y="952798"/>
            <a:ext cx="288000" cy="288000"/>
          </a:xfrm>
          <a:prstGeom prst="rect">
            <a:avLst/>
          </a:prstGeom>
        </p:spPr>
      </p:pic>
      <p:sp>
        <p:nvSpPr>
          <p:cNvPr id="119" name="CuadroTexto 118">
            <a:extLst>
              <a:ext uri="{FF2B5EF4-FFF2-40B4-BE49-F238E27FC236}">
                <a16:creationId xmlns:a16="http://schemas.microsoft.com/office/drawing/2014/main" id="{5600B88E-5DDA-4945-B9A4-FCE5225B9DD7}"/>
              </a:ext>
            </a:extLst>
          </p:cNvPr>
          <p:cNvSpPr txBox="1"/>
          <p:nvPr/>
        </p:nvSpPr>
        <p:spPr>
          <a:xfrm>
            <a:off x="391277" y="984897"/>
            <a:ext cx="10454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800" b="1">
                <a:solidFill>
                  <a:schemeClr val="bg1"/>
                </a:solidFill>
              </a:defRPr>
            </a:lvl1pPr>
          </a:lstStyle>
          <a:p>
            <a:r>
              <a:rPr lang="es-VE" sz="1000" dirty="0"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petrix12</a:t>
            </a:r>
            <a:endParaRPr lang="es-VE" sz="1000" dirty="0"/>
          </a:p>
        </p:txBody>
      </p:sp>
      <p:pic>
        <p:nvPicPr>
          <p:cNvPr id="41" name="Imagen 40" descr="Logotipo&#10;&#10;Descripción generada automáticamente">
            <a:extLst>
              <a:ext uri="{FF2B5EF4-FFF2-40B4-BE49-F238E27FC236}">
                <a16:creationId xmlns:a16="http://schemas.microsoft.com/office/drawing/2014/main" id="{DEEE07E8-0D46-8741-60F9-38046BDFC7D3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226" y="5458391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91 CuadroTexto">
            <a:extLst>
              <a:ext uri="{FF2B5EF4-FFF2-40B4-BE49-F238E27FC236}">
                <a16:creationId xmlns:a16="http://schemas.microsoft.com/office/drawing/2014/main" id="{523EA22F-3C2A-8D32-4522-B502BDF64001}"/>
              </a:ext>
            </a:extLst>
          </p:cNvPr>
          <p:cNvSpPr txBox="1"/>
          <p:nvPr/>
        </p:nvSpPr>
        <p:spPr>
          <a:xfrm>
            <a:off x="1151780" y="8478608"/>
            <a:ext cx="623772" cy="223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800" b="1" dirty="0">
                <a:solidFill>
                  <a:schemeClr val="bg1"/>
                </a:solidFill>
              </a:rPr>
              <a:t>Escritos</a:t>
            </a:r>
          </a:p>
        </p:txBody>
      </p:sp>
      <p:pic>
        <p:nvPicPr>
          <p:cNvPr id="52" name="Imagen 51">
            <a:hlinkClick r:id="rId31"/>
            <a:extLst>
              <a:ext uri="{FF2B5EF4-FFF2-40B4-BE49-F238E27FC236}">
                <a16:creationId xmlns:a16="http://schemas.microsoft.com/office/drawing/2014/main" id="{DCCEF992-E907-2C05-798D-D75F9E67324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51780" y="8694012"/>
            <a:ext cx="230066" cy="360000"/>
          </a:xfrm>
          <a:prstGeom prst="rect">
            <a:avLst/>
          </a:prstGeom>
        </p:spPr>
      </p:pic>
      <p:pic>
        <p:nvPicPr>
          <p:cNvPr id="56" name="Imagen 55">
            <a:hlinkClick r:id="rId33"/>
            <a:extLst>
              <a:ext uri="{FF2B5EF4-FFF2-40B4-BE49-F238E27FC236}">
                <a16:creationId xmlns:a16="http://schemas.microsoft.com/office/drawing/2014/main" id="{C4A4A954-AA01-0637-97E5-1769AE5E899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56063" y="8694012"/>
            <a:ext cx="231125" cy="360000"/>
          </a:xfrm>
          <a:prstGeom prst="rect">
            <a:avLst/>
          </a:prstGeom>
        </p:spPr>
      </p:pic>
      <p:pic>
        <p:nvPicPr>
          <p:cNvPr id="29" name="Imagen 28" descr="Icono&#10;&#10;Descripción generada automáticamente">
            <a:extLst>
              <a:ext uri="{FF2B5EF4-FFF2-40B4-BE49-F238E27FC236}">
                <a16:creationId xmlns:a16="http://schemas.microsoft.com/office/drawing/2014/main" id="{BB93FD52-4990-DA22-8CCD-3EECBD8E82B7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063470"/>
            <a:ext cx="72000" cy="72000"/>
          </a:xfrm>
          <a:prstGeom prst="rect">
            <a:avLst/>
          </a:prstGeom>
        </p:spPr>
      </p:pic>
      <p:pic>
        <p:nvPicPr>
          <p:cNvPr id="34" name="Imagen 33" descr="Icono&#10;&#10;Descripción generada automáticamente">
            <a:extLst>
              <a:ext uri="{FF2B5EF4-FFF2-40B4-BE49-F238E27FC236}">
                <a16:creationId xmlns:a16="http://schemas.microsoft.com/office/drawing/2014/main" id="{018B38D9-CECA-40B3-0645-B9267B8C30A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277754"/>
            <a:ext cx="72000" cy="72000"/>
          </a:xfrm>
          <a:prstGeom prst="rect">
            <a:avLst/>
          </a:prstGeom>
        </p:spPr>
      </p:pic>
      <p:pic>
        <p:nvPicPr>
          <p:cNvPr id="40" name="Imagen 39" descr="Icono&#10;&#10;Descripción generada automáticamente">
            <a:extLst>
              <a:ext uri="{FF2B5EF4-FFF2-40B4-BE49-F238E27FC236}">
                <a16:creationId xmlns:a16="http://schemas.microsoft.com/office/drawing/2014/main" id="{B7DBDE7F-CA85-30A4-9D9D-ED0F355CB64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492038"/>
            <a:ext cx="72000" cy="72000"/>
          </a:xfrm>
          <a:prstGeom prst="rect">
            <a:avLst/>
          </a:prstGeom>
        </p:spPr>
      </p:pic>
      <p:pic>
        <p:nvPicPr>
          <p:cNvPr id="49" name="Imagen 48" descr="Texto&#10;&#10;Descripción generada automáticamente">
            <a:extLst>
              <a:ext uri="{FF2B5EF4-FFF2-40B4-BE49-F238E27FC236}">
                <a16:creationId xmlns:a16="http://schemas.microsoft.com/office/drawing/2014/main" id="{8432A05E-4B09-71A0-C84B-BE5D37BDED10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170612"/>
            <a:ext cx="72000" cy="72000"/>
          </a:xfrm>
          <a:prstGeom prst="rect">
            <a:avLst/>
          </a:prstGeom>
        </p:spPr>
      </p:pic>
      <p:pic>
        <p:nvPicPr>
          <p:cNvPr id="50" name="Imagen 49" descr="Texto&#10;&#10;Descripción generada automáticamente">
            <a:extLst>
              <a:ext uri="{FF2B5EF4-FFF2-40B4-BE49-F238E27FC236}">
                <a16:creationId xmlns:a16="http://schemas.microsoft.com/office/drawing/2014/main" id="{18E0F5CD-A612-3952-573F-E1C45A26DF2C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384896"/>
            <a:ext cx="72000" cy="720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125C6F79-5E64-79C6-583E-CEFEEBBCC1CE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96924" y="5974134"/>
            <a:ext cx="360000" cy="360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BCF7EA-4387-F063-A012-6FA89AEF7B1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91927" y="5459403"/>
            <a:ext cx="360000" cy="36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4CE9AA-7DA2-5070-0D2E-85085B10615D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87226" y="5984742"/>
            <a:ext cx="360000" cy="360000"/>
          </a:xfrm>
          <a:prstGeom prst="rect">
            <a:avLst/>
          </a:prstGeom>
        </p:spPr>
      </p:pic>
      <p:sp>
        <p:nvSpPr>
          <p:cNvPr id="64" name="101 CuadroTexto">
            <a:extLst>
              <a:ext uri="{FF2B5EF4-FFF2-40B4-BE49-F238E27FC236}">
                <a16:creationId xmlns:a16="http://schemas.microsoft.com/office/drawing/2014/main" id="{AEA8A148-F02B-59C6-2B7D-47BE34C1BCD0}"/>
              </a:ext>
            </a:extLst>
          </p:cNvPr>
          <p:cNvSpPr txBox="1"/>
          <p:nvPr/>
        </p:nvSpPr>
        <p:spPr>
          <a:xfrm>
            <a:off x="2595550" y="2348182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fr-FR" sz="900" b="1" dirty="0" err="1"/>
              <a:t>Laravel</a:t>
            </a:r>
            <a:r>
              <a:rPr lang="fr-FR" sz="900" b="1" dirty="0"/>
              <a:t>, Vue.js, MySQL, Docker y AWS </a:t>
            </a:r>
            <a:endParaRPr lang="es-ES" sz="900" b="1" dirty="0"/>
          </a:p>
        </p:txBody>
      </p:sp>
      <p:sp>
        <p:nvSpPr>
          <p:cNvPr id="65" name="101 CuadroTexto">
            <a:extLst>
              <a:ext uri="{FF2B5EF4-FFF2-40B4-BE49-F238E27FC236}">
                <a16:creationId xmlns:a16="http://schemas.microsoft.com/office/drawing/2014/main" id="{2836D965-3B4A-B541-BA76-D258CD34D3E3}"/>
              </a:ext>
            </a:extLst>
          </p:cNvPr>
          <p:cNvSpPr txBox="1"/>
          <p:nvPr/>
        </p:nvSpPr>
        <p:spPr>
          <a:xfrm>
            <a:off x="2595550" y="2891571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COMMUTATIO Mar 2023 - </a:t>
            </a:r>
            <a:r>
              <a:rPr lang="es-ES" sz="800" b="1" dirty="0" err="1"/>
              <a:t>Sep</a:t>
            </a:r>
            <a:r>
              <a:rPr lang="es-ES" sz="800" b="1" dirty="0"/>
              <a:t> 2024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2184A32-662A-8F4C-CF7B-76341AA523C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595550" y="196732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7F4666B-E542-FED2-1DC4-EA2CF35A7360}"/>
              </a:ext>
            </a:extLst>
          </p:cNvPr>
          <p:cNvSpPr/>
          <p:nvPr/>
        </p:nvSpPr>
        <p:spPr>
          <a:xfrm>
            <a:off x="3000054" y="2039323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DESARROLLADOR WEB FULL-STACK </a:t>
            </a:r>
          </a:p>
        </p:txBody>
      </p:sp>
      <p:sp>
        <p:nvSpPr>
          <p:cNvPr id="70" name="101 CuadroTexto">
            <a:extLst>
              <a:ext uri="{FF2B5EF4-FFF2-40B4-BE49-F238E27FC236}">
                <a16:creationId xmlns:a16="http://schemas.microsoft.com/office/drawing/2014/main" id="{E1D319ED-D403-9B59-5A94-8F7AF4ABB0B8}"/>
              </a:ext>
            </a:extLst>
          </p:cNvPr>
          <p:cNvSpPr txBox="1"/>
          <p:nvPr/>
        </p:nvSpPr>
        <p:spPr>
          <a:xfrm>
            <a:off x="4739381" y="2347021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/>
            </a:lvl1pPr>
          </a:lstStyle>
          <a:p>
            <a:r>
              <a:rPr lang="es-ES" dirty="0"/>
              <a:t>Laravel, Node.js, React.js, Vue.js, MySQL, MongoDB, AWS, Automatización con </a:t>
            </a:r>
            <a:r>
              <a:rPr lang="es-ES" dirty="0" err="1"/>
              <a:t>Zapier</a:t>
            </a:r>
            <a:r>
              <a:rPr lang="es-ES" dirty="0"/>
              <a:t> y VBA </a:t>
            </a:r>
          </a:p>
        </p:txBody>
      </p:sp>
      <p:sp>
        <p:nvSpPr>
          <p:cNvPr id="71" name="101 CuadroTexto">
            <a:extLst>
              <a:ext uri="{FF2B5EF4-FFF2-40B4-BE49-F238E27FC236}">
                <a16:creationId xmlns:a16="http://schemas.microsoft.com/office/drawing/2014/main" id="{7AD43333-22D7-EA99-257A-AE5071C016F7}"/>
              </a:ext>
            </a:extLst>
          </p:cNvPr>
          <p:cNvSpPr txBox="1"/>
          <p:nvPr/>
        </p:nvSpPr>
        <p:spPr>
          <a:xfrm>
            <a:off x="4739381" y="2890410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SEFAR UNIVERSAL </a:t>
            </a:r>
            <a:r>
              <a:rPr lang="es-ES" sz="800" b="1" dirty="0" err="1"/>
              <a:t>Ago</a:t>
            </a:r>
            <a:r>
              <a:rPr lang="es-ES" sz="800" b="1" dirty="0"/>
              <a:t> 2019 - Mar 2023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D85F9C0-91C1-4E83-780B-E58E67A62CEB}"/>
              </a:ext>
            </a:extLst>
          </p:cNvPr>
          <p:cNvSpPr/>
          <p:nvPr/>
        </p:nvSpPr>
        <p:spPr>
          <a:xfrm>
            <a:off x="5143885" y="2038162"/>
            <a:ext cx="1620000" cy="216000"/>
          </a:xfrm>
          <a:prstGeom prst="roundRect">
            <a:avLst/>
          </a:prstGeom>
          <a:solidFill>
            <a:schemeClr val="accent1">
              <a:alpha val="9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DESARROLLADOR WEB FULL-STACK  </a:t>
            </a:r>
          </a:p>
        </p:txBody>
      </p:sp>
      <p:pic>
        <p:nvPicPr>
          <p:cNvPr id="73" name="Imagen 38">
            <a:hlinkClick r:id="rId42"/>
            <a:extLst>
              <a:ext uri="{FF2B5EF4-FFF2-40B4-BE49-F238E27FC236}">
                <a16:creationId xmlns:a16="http://schemas.microsoft.com/office/drawing/2014/main" id="{B5CD145B-F2B5-78B7-37BD-CBCDE673C14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9"/>
          <a:stretch/>
        </p:blipFill>
        <p:spPr>
          <a:xfrm>
            <a:off x="4739381" y="196732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75" name="101 CuadroTexto">
            <a:extLst>
              <a:ext uri="{FF2B5EF4-FFF2-40B4-BE49-F238E27FC236}">
                <a16:creationId xmlns:a16="http://schemas.microsoft.com/office/drawing/2014/main" id="{BFFAC09C-2A1F-EEC2-20CC-7F8A3B9BB61A}"/>
              </a:ext>
            </a:extLst>
          </p:cNvPr>
          <p:cNvSpPr txBox="1"/>
          <p:nvPr/>
        </p:nvSpPr>
        <p:spPr>
          <a:xfrm>
            <a:off x="2595550" y="3503005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Automatización de reportes con VBA, VB6, Delphi, Access, SQL Server, MySQL. Integración con SAP </a:t>
            </a:r>
          </a:p>
        </p:txBody>
      </p:sp>
      <p:sp>
        <p:nvSpPr>
          <p:cNvPr id="76" name="101 CuadroTexto">
            <a:extLst>
              <a:ext uri="{FF2B5EF4-FFF2-40B4-BE49-F238E27FC236}">
                <a16:creationId xmlns:a16="http://schemas.microsoft.com/office/drawing/2014/main" id="{62384F29-DF4C-B929-3FE4-A2471E68871E}"/>
              </a:ext>
            </a:extLst>
          </p:cNvPr>
          <p:cNvSpPr txBox="1"/>
          <p:nvPr/>
        </p:nvSpPr>
        <p:spPr>
          <a:xfrm>
            <a:off x="2595550" y="4046394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PDVSA Abr 2006 - Jul 2021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68CEBA5-C521-B38B-2C56-A36C9548EE00}"/>
              </a:ext>
            </a:extLst>
          </p:cNvPr>
          <p:cNvSpPr/>
          <p:nvPr/>
        </p:nvSpPr>
        <p:spPr>
          <a:xfrm>
            <a:off x="3000054" y="3194146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ANALISTA MAYOR DE PRESUPUESTOS </a:t>
            </a:r>
          </a:p>
        </p:txBody>
      </p:sp>
      <p:pic>
        <p:nvPicPr>
          <p:cNvPr id="78" name="100 Imagen">
            <a:hlinkClick r:id="rId44"/>
          </p:cNvPr>
          <p:cNvPicPr/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446" y="3121414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80" name="101 CuadroTexto">
            <a:extLst>
              <a:ext uri="{FF2B5EF4-FFF2-40B4-BE49-F238E27FC236}">
                <a16:creationId xmlns:a16="http://schemas.microsoft.com/office/drawing/2014/main" id="{73CC4587-F5C2-8C85-9396-00C57CE069F4}"/>
              </a:ext>
            </a:extLst>
          </p:cNvPr>
          <p:cNvSpPr txBox="1"/>
          <p:nvPr/>
        </p:nvSpPr>
        <p:spPr>
          <a:xfrm>
            <a:off x="4739381" y="3502425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Visual Basic 6, VBA, Bases de Datos Access y SQL Server </a:t>
            </a:r>
          </a:p>
        </p:txBody>
      </p:sp>
      <p:sp>
        <p:nvSpPr>
          <p:cNvPr id="81" name="101 CuadroTexto">
            <a:extLst>
              <a:ext uri="{FF2B5EF4-FFF2-40B4-BE49-F238E27FC236}">
                <a16:creationId xmlns:a16="http://schemas.microsoft.com/office/drawing/2014/main" id="{4F5467F8-A1CA-9345-FFC5-3F3911A1C678}"/>
              </a:ext>
            </a:extLst>
          </p:cNvPr>
          <p:cNvSpPr txBox="1"/>
          <p:nvPr/>
        </p:nvSpPr>
        <p:spPr>
          <a:xfrm>
            <a:off x="4739381" y="4045814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Univ. Gran Mariscal Mar 2008 - Feb 2015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1809052-3989-40EF-567D-C516739F833F}"/>
              </a:ext>
            </a:extLst>
          </p:cNvPr>
          <p:cNvSpPr/>
          <p:nvPr/>
        </p:nvSpPr>
        <p:spPr>
          <a:xfrm>
            <a:off x="5143885" y="3193566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PROFESOR DE PROGRAMACIÓN </a:t>
            </a:r>
          </a:p>
        </p:txBody>
      </p:sp>
      <p:pic>
        <p:nvPicPr>
          <p:cNvPr id="83" name="111 Imagen" descr="ugma">
            <a:hlinkClick r:id="rId46"/>
          </p:cNvPr>
          <p:cNvPicPr/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037" y="312118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85" name="101 CuadroTexto">
            <a:extLst>
              <a:ext uri="{FF2B5EF4-FFF2-40B4-BE49-F238E27FC236}">
                <a16:creationId xmlns:a16="http://schemas.microsoft.com/office/drawing/2014/main" id="{0AA61ACC-04FD-1635-AB96-C1BD355F7C81}"/>
              </a:ext>
            </a:extLst>
          </p:cNvPr>
          <p:cNvSpPr txBox="1"/>
          <p:nvPr/>
        </p:nvSpPr>
        <p:spPr>
          <a:xfrm>
            <a:off x="2595550" y="4624690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800" dirty="0"/>
              <a:t>Diseño y simulación de líneas de flujo (</a:t>
            </a:r>
            <a:r>
              <a:rPr lang="es-ES" sz="800" dirty="0" err="1"/>
              <a:t>Hysys</a:t>
            </a:r>
            <a:r>
              <a:rPr lang="es-ES" sz="800" dirty="0"/>
              <a:t>, </a:t>
            </a:r>
            <a:r>
              <a:rPr lang="es-ES" sz="800" dirty="0" err="1"/>
              <a:t>Pipephase</a:t>
            </a:r>
            <a:r>
              <a:rPr lang="es-ES" sz="800" dirty="0"/>
              <a:t>) y elaboración de documentos técnicos y manuales de operación</a:t>
            </a:r>
          </a:p>
        </p:txBody>
      </p:sp>
      <p:sp>
        <p:nvSpPr>
          <p:cNvPr id="86" name="101 CuadroTexto">
            <a:extLst>
              <a:ext uri="{FF2B5EF4-FFF2-40B4-BE49-F238E27FC236}">
                <a16:creationId xmlns:a16="http://schemas.microsoft.com/office/drawing/2014/main" id="{1EB9A128-DC33-6CC4-94F7-D4032ADCEE48}"/>
              </a:ext>
            </a:extLst>
          </p:cNvPr>
          <p:cNvSpPr txBox="1"/>
          <p:nvPr/>
        </p:nvSpPr>
        <p:spPr>
          <a:xfrm>
            <a:off x="2595550" y="5168079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ENI Ago 2004 - </a:t>
            </a:r>
            <a:r>
              <a:rPr lang="en-US" sz="800" b="1" dirty="0" err="1"/>
              <a:t>Abr</a:t>
            </a:r>
            <a:r>
              <a:rPr lang="en-US" sz="800" b="1" dirty="0"/>
              <a:t> 2006</a:t>
            </a:r>
            <a:endParaRPr lang="es-ES" sz="800" b="1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ADED0789-DE80-E595-78EE-79E4475A036D}"/>
              </a:ext>
            </a:extLst>
          </p:cNvPr>
          <p:cNvSpPr/>
          <p:nvPr/>
        </p:nvSpPr>
        <p:spPr>
          <a:xfrm>
            <a:off x="3000054" y="4315831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INGENIERO DE PROCESOS</a:t>
            </a:r>
          </a:p>
        </p:txBody>
      </p:sp>
      <p:pic>
        <p:nvPicPr>
          <p:cNvPr id="88" name="Imagen 8" descr="Logotipo&#10;&#10;Descripción generada automáticamente">
            <a:hlinkClick r:id="rId48"/>
            <a:extLst>
              <a:ext uri="{FF2B5EF4-FFF2-40B4-BE49-F238E27FC236}">
                <a16:creationId xmlns:a16="http://schemas.microsoft.com/office/drawing/2014/main" id="{D645DE2C-7CE5-BD62-7645-A1B7A91A2586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598" y="424490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94" name="101 CuadroTexto">
            <a:extLst>
              <a:ext uri="{FF2B5EF4-FFF2-40B4-BE49-F238E27FC236}">
                <a16:creationId xmlns:a16="http://schemas.microsoft.com/office/drawing/2014/main" id="{F787FC6B-8119-D02C-EFED-D8E1F85C8730}"/>
              </a:ext>
            </a:extLst>
          </p:cNvPr>
          <p:cNvSpPr txBox="1"/>
          <p:nvPr/>
        </p:nvSpPr>
        <p:spPr>
          <a:xfrm>
            <a:off x="4739381" y="4624690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C/C++, Pascal, Delphi, AutoCAD, Access, </a:t>
            </a:r>
            <a:r>
              <a:rPr lang="en-US" dirty="0" err="1"/>
              <a:t>Exce</a:t>
            </a:r>
            <a:r>
              <a:rPr lang="en-US" dirty="0"/>
              <a:t> y Word </a:t>
            </a:r>
            <a:endParaRPr lang="es-ES" dirty="0"/>
          </a:p>
        </p:txBody>
      </p:sp>
      <p:sp>
        <p:nvSpPr>
          <p:cNvPr id="95" name="101 CuadroTexto">
            <a:extLst>
              <a:ext uri="{FF2B5EF4-FFF2-40B4-BE49-F238E27FC236}">
                <a16:creationId xmlns:a16="http://schemas.microsoft.com/office/drawing/2014/main" id="{DAAF9133-3D7E-9E13-FA9D-9877ED42CD29}"/>
              </a:ext>
            </a:extLst>
          </p:cNvPr>
          <p:cNvSpPr txBox="1"/>
          <p:nvPr/>
        </p:nvSpPr>
        <p:spPr>
          <a:xfrm>
            <a:off x="4739381" y="5168079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UCV Mar 1996 - Dic 2002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83C967F-A193-7924-F87C-B42D389ED281}"/>
              </a:ext>
            </a:extLst>
          </p:cNvPr>
          <p:cNvSpPr/>
          <p:nvPr/>
        </p:nvSpPr>
        <p:spPr>
          <a:xfrm>
            <a:off x="5143885" y="4315831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PREPARADOR DE PROGRAMACIÓN</a:t>
            </a:r>
          </a:p>
        </p:txBody>
      </p:sp>
      <p:pic>
        <p:nvPicPr>
          <p:cNvPr id="103" name="167 Imagen">
            <a:hlinkClick r:id="rId50"/>
          </p:cNvPr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189" y="4245252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112" name="101 CuadroTexto">
            <a:extLst>
              <a:ext uri="{FF2B5EF4-FFF2-40B4-BE49-F238E27FC236}">
                <a16:creationId xmlns:a16="http://schemas.microsoft.com/office/drawing/2014/main" id="{66B0C93D-258C-4356-B378-65803E869D17}"/>
              </a:ext>
            </a:extLst>
          </p:cNvPr>
          <p:cNvSpPr txBox="1"/>
          <p:nvPr/>
        </p:nvSpPr>
        <p:spPr>
          <a:xfrm>
            <a:off x="3678309" y="1233760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fr-FR" sz="900" b="1" dirty="0" err="1"/>
              <a:t>Laravel</a:t>
            </a:r>
            <a:r>
              <a:rPr lang="fr-FR" sz="900" b="1" dirty="0"/>
              <a:t>, Symfony, jQuery, MySQL, MS SQL Server, AWS, Docker, Python y Lazarus</a:t>
            </a:r>
            <a:endParaRPr lang="es-ES" sz="900" b="1" dirty="0"/>
          </a:p>
        </p:txBody>
      </p:sp>
      <p:sp>
        <p:nvSpPr>
          <p:cNvPr id="113" name="101 CuadroTexto">
            <a:extLst>
              <a:ext uri="{FF2B5EF4-FFF2-40B4-BE49-F238E27FC236}">
                <a16:creationId xmlns:a16="http://schemas.microsoft.com/office/drawing/2014/main" id="{DC52970C-6582-4B2D-BEBE-BB867E852535}"/>
              </a:ext>
            </a:extLst>
          </p:cNvPr>
          <p:cNvSpPr txBox="1"/>
          <p:nvPr/>
        </p:nvSpPr>
        <p:spPr>
          <a:xfrm>
            <a:off x="3678309" y="1777149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KLINIKARE </a:t>
            </a:r>
            <a:r>
              <a:rPr lang="es-ES" sz="800" b="1" dirty="0" err="1"/>
              <a:t>Sep</a:t>
            </a:r>
            <a:r>
              <a:rPr lang="es-ES" sz="800" b="1" dirty="0"/>
              <a:t> 2024 – Abr 2026</a:t>
            </a:r>
          </a:p>
        </p:txBody>
      </p:sp>
      <p:sp>
        <p:nvSpPr>
          <p:cNvPr id="115" name="Rectangle: Rounded Corners 66">
            <a:extLst>
              <a:ext uri="{FF2B5EF4-FFF2-40B4-BE49-F238E27FC236}">
                <a16:creationId xmlns:a16="http://schemas.microsoft.com/office/drawing/2014/main" id="{CF416267-0B60-4A8D-A20F-F1648D0B5AA2}"/>
              </a:ext>
            </a:extLst>
          </p:cNvPr>
          <p:cNvSpPr/>
          <p:nvPr/>
        </p:nvSpPr>
        <p:spPr>
          <a:xfrm>
            <a:off x="4082813" y="924901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DESARROLLADOR WEB FULL-STACK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FD4219-0FCA-410B-90ED-C07EDC136C03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672878" y="851691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B2F310-AB14-419D-8F07-87C74EEB5E0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96924" y="6495182"/>
            <a:ext cx="360000" cy="3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D0000BD-6568-4567-9C80-E0BDCC253F4F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91927" y="6514128"/>
            <a:ext cx="360000" cy="36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D09DC50-F33E-43AC-B0BA-FEBB1B19595A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387226" y="651109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868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2593</TotalTime>
  <Words>716</Words>
  <Application>Microsoft Office PowerPoint</Application>
  <PresentationFormat>Presentación en pantalla (4:3)</PresentationFormat>
  <Paragraphs>66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Courier New</vt:lpstr>
      <vt:lpstr>Georgia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Pedro Bazo</dc:creator>
  <cp:lastModifiedBy>Office CCS</cp:lastModifiedBy>
  <cp:revision>204</cp:revision>
  <cp:lastPrinted>2019-07-10T13:23:33Z</cp:lastPrinted>
  <dcterms:modified xsi:type="dcterms:W3CDTF">2026-04-15T16:36:35Z</dcterms:modified>
</cp:coreProperties>
</file>